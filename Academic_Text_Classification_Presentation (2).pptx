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89" r:id="rId2"/>
    <p:sldId id="257" r:id="rId3"/>
    <p:sldId id="258" r:id="rId4"/>
    <p:sldId id="286" r:id="rId5"/>
    <p:sldId id="259" r:id="rId6"/>
    <p:sldId id="288" r:id="rId7"/>
    <p:sldId id="260" r:id="rId8"/>
    <p:sldId id="261" r:id="rId9"/>
    <p:sldId id="272" r:id="rId10"/>
    <p:sldId id="279" r:id="rId11"/>
    <p:sldId id="264" r:id="rId12"/>
    <p:sldId id="263" r:id="rId13"/>
    <p:sldId id="265" r:id="rId14"/>
    <p:sldId id="281" r:id="rId15"/>
    <p:sldId id="283" r:id="rId16"/>
    <p:sldId id="262" r:id="rId17"/>
    <p:sldId id="267" r:id="rId18"/>
    <p:sldId id="284" r:id="rId19"/>
    <p:sldId id="268" r:id="rId20"/>
    <p:sldId id="269" r:id="rId21"/>
    <p:sldId id="282" r:id="rId22"/>
    <p:sldId id="290" r:id="rId23"/>
    <p:sldId id="271" r:id="rId24"/>
    <p:sldId id="274" r:id="rId25"/>
    <p:sldId id="275" r:id="rId26"/>
    <p:sldId id="285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notesMaster" Target="notesMasters/notesMaster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viewProps" Target="viewProps.xml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129EEF-8656-41E8-B86F-985091E6BE63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CDD305C-C2E5-4E8E-8D2F-724366F0E6E0}">
      <dgm:prSet/>
      <dgm:spPr/>
      <dgm:t>
        <a:bodyPr/>
        <a:lstStyle/>
        <a:p>
          <a:r>
            <a:rPr lang="en-US"/>
            <a:t>Giriş &amp; amaç</a:t>
          </a:r>
        </a:p>
      </dgm:t>
    </dgm:pt>
    <dgm:pt modelId="{7F6EF1D0-290D-45F7-A803-65ED35C4660F}" type="parTrans" cxnId="{2104EE7F-2EAF-47C8-82EC-B1C7010B1D68}">
      <dgm:prSet/>
      <dgm:spPr/>
      <dgm:t>
        <a:bodyPr/>
        <a:lstStyle/>
        <a:p>
          <a:endParaRPr lang="en-US"/>
        </a:p>
      </dgm:t>
    </dgm:pt>
    <dgm:pt modelId="{9E78ED5D-4BF1-413F-90A9-1ED188ADF440}" type="sibTrans" cxnId="{2104EE7F-2EAF-47C8-82EC-B1C7010B1D68}">
      <dgm:prSet/>
      <dgm:spPr/>
      <dgm:t>
        <a:bodyPr/>
        <a:lstStyle/>
        <a:p>
          <a:endParaRPr lang="en-US"/>
        </a:p>
      </dgm:t>
    </dgm:pt>
    <dgm:pt modelId="{A0C8DC6A-539D-4175-820F-1726DDFD92E6}">
      <dgm:prSet/>
      <dgm:spPr/>
      <dgm:t>
        <a:bodyPr/>
        <a:lstStyle/>
        <a:p>
          <a:r>
            <a:rPr lang="en-US"/>
            <a:t>Veri seti &amp; ön işleme</a:t>
          </a:r>
        </a:p>
      </dgm:t>
    </dgm:pt>
    <dgm:pt modelId="{4D8D2644-8712-4DE2-AEB9-0D95B5F5ADDB}" type="parTrans" cxnId="{501BF00E-60AA-4352-936F-210F149CFBEC}">
      <dgm:prSet/>
      <dgm:spPr/>
      <dgm:t>
        <a:bodyPr/>
        <a:lstStyle/>
        <a:p>
          <a:endParaRPr lang="en-US"/>
        </a:p>
      </dgm:t>
    </dgm:pt>
    <dgm:pt modelId="{C99948CB-2DEC-4726-882E-3C1F75C5C137}" type="sibTrans" cxnId="{501BF00E-60AA-4352-936F-210F149CFBEC}">
      <dgm:prSet/>
      <dgm:spPr/>
      <dgm:t>
        <a:bodyPr/>
        <a:lstStyle/>
        <a:p>
          <a:endParaRPr lang="en-US"/>
        </a:p>
      </dgm:t>
    </dgm:pt>
    <dgm:pt modelId="{BB417538-E713-4081-8B2C-C86CC9268817}">
      <dgm:prSet/>
      <dgm:spPr/>
      <dgm:t>
        <a:bodyPr/>
        <a:lstStyle/>
        <a:p>
          <a:r>
            <a:rPr lang="en-US"/>
            <a:t>Özellik çıkarımı yöntemleri</a:t>
          </a:r>
        </a:p>
      </dgm:t>
    </dgm:pt>
    <dgm:pt modelId="{34148555-7C65-41C5-9653-410526AAD7A8}" type="parTrans" cxnId="{65DC94C8-87B1-4274-8325-0DF06CBD05BF}">
      <dgm:prSet/>
      <dgm:spPr/>
      <dgm:t>
        <a:bodyPr/>
        <a:lstStyle/>
        <a:p>
          <a:endParaRPr lang="en-US"/>
        </a:p>
      </dgm:t>
    </dgm:pt>
    <dgm:pt modelId="{178417EE-297F-4C17-B24B-8161FC94EE62}" type="sibTrans" cxnId="{65DC94C8-87B1-4274-8325-0DF06CBD05BF}">
      <dgm:prSet/>
      <dgm:spPr/>
      <dgm:t>
        <a:bodyPr/>
        <a:lstStyle/>
        <a:p>
          <a:endParaRPr lang="en-US"/>
        </a:p>
      </dgm:t>
    </dgm:pt>
    <dgm:pt modelId="{5504946C-6959-4F7B-87FF-805D0185E893}">
      <dgm:prSet/>
      <dgm:spPr/>
      <dgm:t>
        <a:bodyPr/>
        <a:lstStyle/>
        <a:p>
          <a:r>
            <a:rPr lang="en-US"/>
            <a:t>Sonuçlar — karşılaştırmalı analiz</a:t>
          </a:r>
        </a:p>
      </dgm:t>
    </dgm:pt>
    <dgm:pt modelId="{C4DF11DB-30CE-46D0-B45A-0539F65D7EAB}" type="parTrans" cxnId="{EF02A4CE-9ACD-4971-BBF8-8914564CB436}">
      <dgm:prSet/>
      <dgm:spPr/>
      <dgm:t>
        <a:bodyPr/>
        <a:lstStyle/>
        <a:p>
          <a:endParaRPr lang="en-US"/>
        </a:p>
      </dgm:t>
    </dgm:pt>
    <dgm:pt modelId="{D3F4FB73-0A15-435C-926B-4E799339FB25}" type="sibTrans" cxnId="{EF02A4CE-9ACD-4971-BBF8-8914564CB436}">
      <dgm:prSet/>
      <dgm:spPr/>
      <dgm:t>
        <a:bodyPr/>
        <a:lstStyle/>
        <a:p>
          <a:endParaRPr lang="en-US"/>
        </a:p>
      </dgm:t>
    </dgm:pt>
    <dgm:pt modelId="{0E5C37F0-0E68-4DC5-BDB4-292D58B5D1DA}">
      <dgm:prSet/>
      <dgm:spPr/>
      <dgm:t>
        <a:bodyPr/>
        <a:lstStyle/>
        <a:p>
          <a:r>
            <a:rPr lang="en-US" dirty="0"/>
            <a:t>Hata </a:t>
          </a:r>
          <a:r>
            <a:rPr lang="en-US" dirty="0" err="1"/>
            <a:t>analizi</a:t>
          </a:r>
          <a:endParaRPr lang="en-US" dirty="0"/>
        </a:p>
      </dgm:t>
    </dgm:pt>
    <dgm:pt modelId="{9220BD50-5BBD-4DC2-91E5-2691FA042E7E}" type="parTrans" cxnId="{E2F98563-7B7C-477B-9FC4-AA5940DB5560}">
      <dgm:prSet/>
      <dgm:spPr/>
      <dgm:t>
        <a:bodyPr/>
        <a:lstStyle/>
        <a:p>
          <a:endParaRPr lang="en-US"/>
        </a:p>
      </dgm:t>
    </dgm:pt>
    <dgm:pt modelId="{78138CA6-11F6-400E-8C14-2588B65B64A1}" type="sibTrans" cxnId="{E2F98563-7B7C-477B-9FC4-AA5940DB5560}">
      <dgm:prSet/>
      <dgm:spPr/>
      <dgm:t>
        <a:bodyPr/>
        <a:lstStyle/>
        <a:p>
          <a:endParaRPr lang="en-US"/>
        </a:p>
      </dgm:t>
    </dgm:pt>
    <dgm:pt modelId="{D6C708B8-8581-4CA7-8F35-53F4FF5675D3}">
      <dgm:prSet/>
      <dgm:spPr/>
      <dgm:t>
        <a:bodyPr/>
        <a:lstStyle/>
        <a:p>
          <a:r>
            <a:rPr lang="en-US" dirty="0"/>
            <a:t>Ekler: </a:t>
          </a:r>
          <a:r>
            <a:rPr lang="en-US" dirty="0" err="1"/>
            <a:t>kod</a:t>
          </a:r>
          <a:r>
            <a:rPr lang="en-US" dirty="0"/>
            <a:t> </a:t>
          </a:r>
          <a:r>
            <a:rPr lang="en-US" dirty="0" err="1"/>
            <a:t>başlıkları</a:t>
          </a:r>
          <a:r>
            <a:rPr lang="en-US" dirty="0"/>
            <a:t>, </a:t>
          </a:r>
          <a:r>
            <a:rPr lang="en-US" dirty="0" err="1"/>
            <a:t>eğitim</a:t>
          </a:r>
          <a:r>
            <a:rPr lang="en-US" dirty="0"/>
            <a:t> </a:t>
          </a:r>
          <a:r>
            <a:rPr lang="en-US" dirty="0" err="1"/>
            <a:t>eğrileri</a:t>
          </a:r>
          <a:r>
            <a:rPr lang="en-US" dirty="0"/>
            <a:t>, </a:t>
          </a:r>
          <a:r>
            <a:rPr lang="en-US" dirty="0" err="1"/>
            <a:t>veri</a:t>
          </a:r>
          <a:r>
            <a:rPr lang="en-US" dirty="0"/>
            <a:t> </a:t>
          </a:r>
          <a:r>
            <a:rPr lang="en-US" dirty="0" err="1"/>
            <a:t>erişimi</a:t>
          </a:r>
          <a:endParaRPr lang="en-US" dirty="0"/>
        </a:p>
      </dgm:t>
    </dgm:pt>
    <dgm:pt modelId="{FE4B8BCA-B95D-4E3E-A7B3-936FC6C038C4}" type="parTrans" cxnId="{3B646722-1108-4038-A3EB-9DE3D9376A8B}">
      <dgm:prSet/>
      <dgm:spPr/>
      <dgm:t>
        <a:bodyPr/>
        <a:lstStyle/>
        <a:p>
          <a:endParaRPr lang="en-US"/>
        </a:p>
      </dgm:t>
    </dgm:pt>
    <dgm:pt modelId="{45A5ACED-520B-418D-8FB5-400DB52B6008}" type="sibTrans" cxnId="{3B646722-1108-4038-A3EB-9DE3D9376A8B}">
      <dgm:prSet/>
      <dgm:spPr/>
      <dgm:t>
        <a:bodyPr/>
        <a:lstStyle/>
        <a:p>
          <a:endParaRPr lang="en-US"/>
        </a:p>
      </dgm:t>
    </dgm:pt>
    <dgm:pt modelId="{13DBF5A5-6AF6-452B-A421-29A5EAA3AE44}">
      <dgm:prSet/>
      <dgm:spPr/>
      <dgm:t>
        <a:bodyPr/>
        <a:lstStyle/>
        <a:p>
          <a:r>
            <a:rPr lang="en-US"/>
            <a:t>Deneysel kurulum &amp; hiperparametreler</a:t>
          </a:r>
        </a:p>
      </dgm:t>
    </dgm:pt>
    <dgm:pt modelId="{106B7944-0BFA-4D54-B91A-2F255BD403DF}" type="sibTrans" cxnId="{85D98547-90DA-4AE5-AB32-08BA96E06020}">
      <dgm:prSet/>
      <dgm:spPr/>
      <dgm:t>
        <a:bodyPr/>
        <a:lstStyle/>
        <a:p>
          <a:endParaRPr lang="en-US"/>
        </a:p>
      </dgm:t>
    </dgm:pt>
    <dgm:pt modelId="{36C5F41D-121D-4BD4-A315-80C8806E1A05}" type="parTrans" cxnId="{85D98547-90DA-4AE5-AB32-08BA96E06020}">
      <dgm:prSet/>
      <dgm:spPr/>
      <dgm:t>
        <a:bodyPr/>
        <a:lstStyle/>
        <a:p>
          <a:endParaRPr lang="en-US"/>
        </a:p>
      </dgm:t>
    </dgm:pt>
    <dgm:pt modelId="{A5A8A2F0-B4A1-48A8-B496-A85831BDBD47}">
      <dgm:prSet/>
      <dgm:spPr/>
      <dgm:t>
        <a:bodyPr/>
        <a:lstStyle/>
        <a:p>
          <a:r>
            <a:rPr lang="en-US" dirty="0" err="1"/>
            <a:t>Modeller</a:t>
          </a:r>
          <a:r>
            <a:rPr lang="en-US" dirty="0"/>
            <a:t> </a:t>
          </a:r>
        </a:p>
      </dgm:t>
    </dgm:pt>
    <dgm:pt modelId="{B7E1469E-512F-4AFB-BE89-2B715CD4E721}" type="sibTrans" cxnId="{22D12D6D-5811-48F4-BBD4-1B0480D29E03}">
      <dgm:prSet/>
      <dgm:spPr/>
      <dgm:t>
        <a:bodyPr/>
        <a:lstStyle/>
        <a:p>
          <a:endParaRPr lang="en-US"/>
        </a:p>
      </dgm:t>
    </dgm:pt>
    <dgm:pt modelId="{780C5267-1AD4-4EAD-8F3B-FCCD26C1B27B}" type="parTrans" cxnId="{22D12D6D-5811-48F4-BBD4-1B0480D29E03}">
      <dgm:prSet/>
      <dgm:spPr/>
      <dgm:t>
        <a:bodyPr/>
        <a:lstStyle/>
        <a:p>
          <a:endParaRPr lang="en-US"/>
        </a:p>
      </dgm:t>
    </dgm:pt>
    <dgm:pt modelId="{BD85E60F-5832-447A-99D7-43CA22A17444}" type="pres">
      <dgm:prSet presAssocID="{24129EEF-8656-41E8-B86F-985091E6BE63}" presName="diagram" presStyleCnt="0">
        <dgm:presLayoutVars>
          <dgm:dir/>
          <dgm:resizeHandles val="exact"/>
        </dgm:presLayoutVars>
      </dgm:prSet>
      <dgm:spPr/>
    </dgm:pt>
    <dgm:pt modelId="{90733E20-E89F-4B03-A4FF-1320D5DAE97E}" type="pres">
      <dgm:prSet presAssocID="{3CDD305C-C2E5-4E8E-8D2F-724366F0E6E0}" presName="node" presStyleLbl="node1" presStyleIdx="0" presStyleCnt="8">
        <dgm:presLayoutVars>
          <dgm:bulletEnabled val="1"/>
        </dgm:presLayoutVars>
      </dgm:prSet>
      <dgm:spPr/>
    </dgm:pt>
    <dgm:pt modelId="{1584E113-E93E-41A0-8232-0E1E3A7605CE}" type="pres">
      <dgm:prSet presAssocID="{9E78ED5D-4BF1-413F-90A9-1ED188ADF440}" presName="sibTrans" presStyleCnt="0"/>
      <dgm:spPr/>
    </dgm:pt>
    <dgm:pt modelId="{9152838C-64C6-4BDF-A081-839DFE14AD67}" type="pres">
      <dgm:prSet presAssocID="{A0C8DC6A-539D-4175-820F-1726DDFD92E6}" presName="node" presStyleLbl="node1" presStyleIdx="1" presStyleCnt="8">
        <dgm:presLayoutVars>
          <dgm:bulletEnabled val="1"/>
        </dgm:presLayoutVars>
      </dgm:prSet>
      <dgm:spPr/>
    </dgm:pt>
    <dgm:pt modelId="{E7662005-C857-4AC8-AE5C-88CD0918E085}" type="pres">
      <dgm:prSet presAssocID="{C99948CB-2DEC-4726-882E-3C1F75C5C137}" presName="sibTrans" presStyleCnt="0"/>
      <dgm:spPr/>
    </dgm:pt>
    <dgm:pt modelId="{624412FE-D394-4750-8A1F-9B988AC13A89}" type="pres">
      <dgm:prSet presAssocID="{BB417538-E713-4081-8B2C-C86CC9268817}" presName="node" presStyleLbl="node1" presStyleIdx="2" presStyleCnt="8">
        <dgm:presLayoutVars>
          <dgm:bulletEnabled val="1"/>
        </dgm:presLayoutVars>
      </dgm:prSet>
      <dgm:spPr/>
    </dgm:pt>
    <dgm:pt modelId="{AB317D71-468C-4D39-B541-DD99642ECB77}" type="pres">
      <dgm:prSet presAssocID="{178417EE-297F-4C17-B24B-8161FC94EE62}" presName="sibTrans" presStyleCnt="0"/>
      <dgm:spPr/>
    </dgm:pt>
    <dgm:pt modelId="{85302901-AFEC-453B-9ACA-485FA0AB470F}" type="pres">
      <dgm:prSet presAssocID="{A5A8A2F0-B4A1-48A8-B496-A85831BDBD47}" presName="node" presStyleLbl="node1" presStyleIdx="3" presStyleCnt="8">
        <dgm:presLayoutVars>
          <dgm:bulletEnabled val="1"/>
        </dgm:presLayoutVars>
      </dgm:prSet>
      <dgm:spPr/>
    </dgm:pt>
    <dgm:pt modelId="{A8693192-456E-4023-86C3-FB83BFC4C50D}" type="pres">
      <dgm:prSet presAssocID="{B7E1469E-512F-4AFB-BE89-2B715CD4E721}" presName="sibTrans" presStyleCnt="0"/>
      <dgm:spPr/>
    </dgm:pt>
    <dgm:pt modelId="{7118ED36-A8F8-41AF-8B39-E59D3DC53EC1}" type="pres">
      <dgm:prSet presAssocID="{13DBF5A5-6AF6-452B-A421-29A5EAA3AE44}" presName="node" presStyleLbl="node1" presStyleIdx="4" presStyleCnt="8">
        <dgm:presLayoutVars>
          <dgm:bulletEnabled val="1"/>
        </dgm:presLayoutVars>
      </dgm:prSet>
      <dgm:spPr/>
    </dgm:pt>
    <dgm:pt modelId="{D3629A5C-CAFF-4C8A-8609-439192C94678}" type="pres">
      <dgm:prSet presAssocID="{106B7944-0BFA-4D54-B91A-2F255BD403DF}" presName="sibTrans" presStyleCnt="0"/>
      <dgm:spPr/>
    </dgm:pt>
    <dgm:pt modelId="{C9703A11-12E8-40D0-811E-7CD12BDB7074}" type="pres">
      <dgm:prSet presAssocID="{5504946C-6959-4F7B-87FF-805D0185E893}" presName="node" presStyleLbl="node1" presStyleIdx="5" presStyleCnt="8">
        <dgm:presLayoutVars>
          <dgm:bulletEnabled val="1"/>
        </dgm:presLayoutVars>
      </dgm:prSet>
      <dgm:spPr/>
    </dgm:pt>
    <dgm:pt modelId="{1BAEE7C8-49F3-4110-A11C-F1ACBC60CD30}" type="pres">
      <dgm:prSet presAssocID="{D3F4FB73-0A15-435C-926B-4E799339FB25}" presName="sibTrans" presStyleCnt="0"/>
      <dgm:spPr/>
    </dgm:pt>
    <dgm:pt modelId="{EAD9C891-7E28-4894-9415-07AAD2C2FD9F}" type="pres">
      <dgm:prSet presAssocID="{0E5C37F0-0E68-4DC5-BDB4-292D58B5D1DA}" presName="node" presStyleLbl="node1" presStyleIdx="6" presStyleCnt="8">
        <dgm:presLayoutVars>
          <dgm:bulletEnabled val="1"/>
        </dgm:presLayoutVars>
      </dgm:prSet>
      <dgm:spPr/>
    </dgm:pt>
    <dgm:pt modelId="{23013CD2-AEA6-430C-92AB-623FB48A4061}" type="pres">
      <dgm:prSet presAssocID="{78138CA6-11F6-400E-8C14-2588B65B64A1}" presName="sibTrans" presStyleCnt="0"/>
      <dgm:spPr/>
    </dgm:pt>
    <dgm:pt modelId="{94B47835-41BB-43B9-9C6D-2B56349856F2}" type="pres">
      <dgm:prSet presAssocID="{D6C708B8-8581-4CA7-8F35-53F4FF5675D3}" presName="node" presStyleLbl="node1" presStyleIdx="7" presStyleCnt="8">
        <dgm:presLayoutVars>
          <dgm:bulletEnabled val="1"/>
        </dgm:presLayoutVars>
      </dgm:prSet>
      <dgm:spPr/>
    </dgm:pt>
  </dgm:ptLst>
  <dgm:cxnLst>
    <dgm:cxn modelId="{B314B804-8B91-44E0-85BE-DF07A264B02A}" type="presOf" srcId="{24129EEF-8656-41E8-B86F-985091E6BE63}" destId="{BD85E60F-5832-447A-99D7-43CA22A17444}" srcOrd="0" destOrd="0" presId="urn:microsoft.com/office/officeart/2005/8/layout/default"/>
    <dgm:cxn modelId="{501BF00E-60AA-4352-936F-210F149CFBEC}" srcId="{24129EEF-8656-41E8-B86F-985091E6BE63}" destId="{A0C8DC6A-539D-4175-820F-1726DDFD92E6}" srcOrd="1" destOrd="0" parTransId="{4D8D2644-8712-4DE2-AEB9-0D95B5F5ADDB}" sibTransId="{C99948CB-2DEC-4726-882E-3C1F75C5C137}"/>
    <dgm:cxn modelId="{3B646722-1108-4038-A3EB-9DE3D9376A8B}" srcId="{24129EEF-8656-41E8-B86F-985091E6BE63}" destId="{D6C708B8-8581-4CA7-8F35-53F4FF5675D3}" srcOrd="7" destOrd="0" parTransId="{FE4B8BCA-B95D-4E3E-A7B3-936FC6C038C4}" sibTransId="{45A5ACED-520B-418D-8FB5-400DB52B6008}"/>
    <dgm:cxn modelId="{7D0B432B-804C-4804-8427-36FC60622207}" type="presOf" srcId="{D6C708B8-8581-4CA7-8F35-53F4FF5675D3}" destId="{94B47835-41BB-43B9-9C6D-2B56349856F2}" srcOrd="0" destOrd="0" presId="urn:microsoft.com/office/officeart/2005/8/layout/default"/>
    <dgm:cxn modelId="{3337652B-5BBB-4117-BA5A-A2B5E137837D}" type="presOf" srcId="{3CDD305C-C2E5-4E8E-8D2F-724366F0E6E0}" destId="{90733E20-E89F-4B03-A4FF-1320D5DAE97E}" srcOrd="0" destOrd="0" presId="urn:microsoft.com/office/officeart/2005/8/layout/default"/>
    <dgm:cxn modelId="{E2F98563-7B7C-477B-9FC4-AA5940DB5560}" srcId="{24129EEF-8656-41E8-B86F-985091E6BE63}" destId="{0E5C37F0-0E68-4DC5-BDB4-292D58B5D1DA}" srcOrd="6" destOrd="0" parTransId="{9220BD50-5BBD-4DC2-91E5-2691FA042E7E}" sibTransId="{78138CA6-11F6-400E-8C14-2588B65B64A1}"/>
    <dgm:cxn modelId="{85D98547-90DA-4AE5-AB32-08BA96E06020}" srcId="{24129EEF-8656-41E8-B86F-985091E6BE63}" destId="{13DBF5A5-6AF6-452B-A421-29A5EAA3AE44}" srcOrd="4" destOrd="0" parTransId="{36C5F41D-121D-4BD4-A315-80C8806E1A05}" sibTransId="{106B7944-0BFA-4D54-B91A-2F255BD403DF}"/>
    <dgm:cxn modelId="{81982448-6262-47E0-A096-91FF02427CF3}" type="presOf" srcId="{0E5C37F0-0E68-4DC5-BDB4-292D58B5D1DA}" destId="{EAD9C891-7E28-4894-9415-07AAD2C2FD9F}" srcOrd="0" destOrd="0" presId="urn:microsoft.com/office/officeart/2005/8/layout/default"/>
    <dgm:cxn modelId="{22D12D6D-5811-48F4-BBD4-1B0480D29E03}" srcId="{24129EEF-8656-41E8-B86F-985091E6BE63}" destId="{A5A8A2F0-B4A1-48A8-B496-A85831BDBD47}" srcOrd="3" destOrd="0" parTransId="{780C5267-1AD4-4EAD-8F3B-FCCD26C1B27B}" sibTransId="{B7E1469E-512F-4AFB-BE89-2B715CD4E721}"/>
    <dgm:cxn modelId="{2104EE7F-2EAF-47C8-82EC-B1C7010B1D68}" srcId="{24129EEF-8656-41E8-B86F-985091E6BE63}" destId="{3CDD305C-C2E5-4E8E-8D2F-724366F0E6E0}" srcOrd="0" destOrd="0" parTransId="{7F6EF1D0-290D-45F7-A803-65ED35C4660F}" sibTransId="{9E78ED5D-4BF1-413F-90A9-1ED188ADF440}"/>
    <dgm:cxn modelId="{AFDD878C-F61A-427E-B804-ABDADB628FA9}" type="presOf" srcId="{BB417538-E713-4081-8B2C-C86CC9268817}" destId="{624412FE-D394-4750-8A1F-9B988AC13A89}" srcOrd="0" destOrd="0" presId="urn:microsoft.com/office/officeart/2005/8/layout/default"/>
    <dgm:cxn modelId="{18A903AF-701C-4C48-BA02-B29C18654585}" type="presOf" srcId="{5504946C-6959-4F7B-87FF-805D0185E893}" destId="{C9703A11-12E8-40D0-811E-7CD12BDB7074}" srcOrd="0" destOrd="0" presId="urn:microsoft.com/office/officeart/2005/8/layout/default"/>
    <dgm:cxn modelId="{65DC94C8-87B1-4274-8325-0DF06CBD05BF}" srcId="{24129EEF-8656-41E8-B86F-985091E6BE63}" destId="{BB417538-E713-4081-8B2C-C86CC9268817}" srcOrd="2" destOrd="0" parTransId="{34148555-7C65-41C5-9653-410526AAD7A8}" sibTransId="{178417EE-297F-4C17-B24B-8161FC94EE62}"/>
    <dgm:cxn modelId="{AAFF47CA-31AC-4992-890D-739FF8B61457}" type="presOf" srcId="{13DBF5A5-6AF6-452B-A421-29A5EAA3AE44}" destId="{7118ED36-A8F8-41AF-8B39-E59D3DC53EC1}" srcOrd="0" destOrd="0" presId="urn:microsoft.com/office/officeart/2005/8/layout/default"/>
    <dgm:cxn modelId="{EF02A4CE-9ACD-4971-BBF8-8914564CB436}" srcId="{24129EEF-8656-41E8-B86F-985091E6BE63}" destId="{5504946C-6959-4F7B-87FF-805D0185E893}" srcOrd="5" destOrd="0" parTransId="{C4DF11DB-30CE-46D0-B45A-0539F65D7EAB}" sibTransId="{D3F4FB73-0A15-435C-926B-4E799339FB25}"/>
    <dgm:cxn modelId="{F39D58FA-BF71-436C-8604-E7F2A9CD24D5}" type="presOf" srcId="{A5A8A2F0-B4A1-48A8-B496-A85831BDBD47}" destId="{85302901-AFEC-453B-9ACA-485FA0AB470F}" srcOrd="0" destOrd="0" presId="urn:microsoft.com/office/officeart/2005/8/layout/default"/>
    <dgm:cxn modelId="{99EDD8FA-8309-40AE-B626-695B10799E9D}" type="presOf" srcId="{A0C8DC6A-539D-4175-820F-1726DDFD92E6}" destId="{9152838C-64C6-4BDF-A081-839DFE14AD67}" srcOrd="0" destOrd="0" presId="urn:microsoft.com/office/officeart/2005/8/layout/default"/>
    <dgm:cxn modelId="{F0F5DE36-2A93-4336-8A76-0842D4C32BFD}" type="presParOf" srcId="{BD85E60F-5832-447A-99D7-43CA22A17444}" destId="{90733E20-E89F-4B03-A4FF-1320D5DAE97E}" srcOrd="0" destOrd="0" presId="urn:microsoft.com/office/officeart/2005/8/layout/default"/>
    <dgm:cxn modelId="{2E0BFD22-C8CE-49C9-99A5-A58BE97C551A}" type="presParOf" srcId="{BD85E60F-5832-447A-99D7-43CA22A17444}" destId="{1584E113-E93E-41A0-8232-0E1E3A7605CE}" srcOrd="1" destOrd="0" presId="urn:microsoft.com/office/officeart/2005/8/layout/default"/>
    <dgm:cxn modelId="{B5AA772D-E0EC-4B2D-AE2A-293A60632BBD}" type="presParOf" srcId="{BD85E60F-5832-447A-99D7-43CA22A17444}" destId="{9152838C-64C6-4BDF-A081-839DFE14AD67}" srcOrd="2" destOrd="0" presId="urn:microsoft.com/office/officeart/2005/8/layout/default"/>
    <dgm:cxn modelId="{A3B58170-296B-4D35-8C28-7AA8876C90DD}" type="presParOf" srcId="{BD85E60F-5832-447A-99D7-43CA22A17444}" destId="{E7662005-C857-4AC8-AE5C-88CD0918E085}" srcOrd="3" destOrd="0" presId="urn:microsoft.com/office/officeart/2005/8/layout/default"/>
    <dgm:cxn modelId="{833D9F0A-826C-4FFC-8B0F-ABA173091360}" type="presParOf" srcId="{BD85E60F-5832-447A-99D7-43CA22A17444}" destId="{624412FE-D394-4750-8A1F-9B988AC13A89}" srcOrd="4" destOrd="0" presId="urn:microsoft.com/office/officeart/2005/8/layout/default"/>
    <dgm:cxn modelId="{8A16004E-927D-4B90-B7AF-0C672F105067}" type="presParOf" srcId="{BD85E60F-5832-447A-99D7-43CA22A17444}" destId="{AB317D71-468C-4D39-B541-DD99642ECB77}" srcOrd="5" destOrd="0" presId="urn:microsoft.com/office/officeart/2005/8/layout/default"/>
    <dgm:cxn modelId="{B62F16D5-2642-4B0B-B619-9783C6FF4E75}" type="presParOf" srcId="{BD85E60F-5832-447A-99D7-43CA22A17444}" destId="{85302901-AFEC-453B-9ACA-485FA0AB470F}" srcOrd="6" destOrd="0" presId="urn:microsoft.com/office/officeart/2005/8/layout/default"/>
    <dgm:cxn modelId="{EEC637A1-9AAA-4AA5-BF95-275F9A127C1C}" type="presParOf" srcId="{BD85E60F-5832-447A-99D7-43CA22A17444}" destId="{A8693192-456E-4023-86C3-FB83BFC4C50D}" srcOrd="7" destOrd="0" presId="urn:microsoft.com/office/officeart/2005/8/layout/default"/>
    <dgm:cxn modelId="{F4162984-4CCF-49CC-B269-0931AAEC9A80}" type="presParOf" srcId="{BD85E60F-5832-447A-99D7-43CA22A17444}" destId="{7118ED36-A8F8-41AF-8B39-E59D3DC53EC1}" srcOrd="8" destOrd="0" presId="urn:microsoft.com/office/officeart/2005/8/layout/default"/>
    <dgm:cxn modelId="{677FB445-9939-47FB-ACE1-0A07CE07F8F5}" type="presParOf" srcId="{BD85E60F-5832-447A-99D7-43CA22A17444}" destId="{D3629A5C-CAFF-4C8A-8609-439192C94678}" srcOrd="9" destOrd="0" presId="urn:microsoft.com/office/officeart/2005/8/layout/default"/>
    <dgm:cxn modelId="{CEBFF48E-8413-4763-80B4-53484D645A4E}" type="presParOf" srcId="{BD85E60F-5832-447A-99D7-43CA22A17444}" destId="{C9703A11-12E8-40D0-811E-7CD12BDB7074}" srcOrd="10" destOrd="0" presId="urn:microsoft.com/office/officeart/2005/8/layout/default"/>
    <dgm:cxn modelId="{AADCAD74-6EC4-4F9D-ABF2-31B2695DCAF5}" type="presParOf" srcId="{BD85E60F-5832-447A-99D7-43CA22A17444}" destId="{1BAEE7C8-49F3-4110-A11C-F1ACBC60CD30}" srcOrd="11" destOrd="0" presId="urn:microsoft.com/office/officeart/2005/8/layout/default"/>
    <dgm:cxn modelId="{0C090737-773F-4970-972F-CCFB3EE10FC9}" type="presParOf" srcId="{BD85E60F-5832-447A-99D7-43CA22A17444}" destId="{EAD9C891-7E28-4894-9415-07AAD2C2FD9F}" srcOrd="12" destOrd="0" presId="urn:microsoft.com/office/officeart/2005/8/layout/default"/>
    <dgm:cxn modelId="{B55D7950-720B-4AF6-AE46-DD1A133F87EF}" type="presParOf" srcId="{BD85E60F-5832-447A-99D7-43CA22A17444}" destId="{23013CD2-AEA6-430C-92AB-623FB48A4061}" srcOrd="13" destOrd="0" presId="urn:microsoft.com/office/officeart/2005/8/layout/default"/>
    <dgm:cxn modelId="{0AB8B206-55CB-4588-901C-FEB1FB5E7E1B}" type="presParOf" srcId="{BD85E60F-5832-447A-99D7-43CA22A17444}" destId="{94B47835-41BB-43B9-9C6D-2B56349856F2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733E20-E89F-4B03-A4FF-1320D5DAE97E}">
      <dsp:nvSpPr>
        <dsp:cNvPr id="0" name=""/>
        <dsp:cNvSpPr/>
      </dsp:nvSpPr>
      <dsp:spPr>
        <a:xfrm>
          <a:off x="3201" y="445489"/>
          <a:ext cx="2539866" cy="152391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Giriş &amp; amaç</a:t>
          </a:r>
        </a:p>
      </dsp:txBody>
      <dsp:txXfrm>
        <a:off x="3201" y="445489"/>
        <a:ext cx="2539866" cy="1523919"/>
      </dsp:txXfrm>
    </dsp:sp>
    <dsp:sp modelId="{9152838C-64C6-4BDF-A081-839DFE14AD67}">
      <dsp:nvSpPr>
        <dsp:cNvPr id="0" name=""/>
        <dsp:cNvSpPr/>
      </dsp:nvSpPr>
      <dsp:spPr>
        <a:xfrm>
          <a:off x="2797054" y="445489"/>
          <a:ext cx="2539866" cy="1523919"/>
        </a:xfrm>
        <a:prstGeom prst="rect">
          <a:avLst/>
        </a:prstGeom>
        <a:solidFill>
          <a:schemeClr val="accent5">
            <a:hueOff val="-1419125"/>
            <a:satOff val="5687"/>
            <a:lumOff val="123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Veri seti &amp; ön işleme</a:t>
          </a:r>
        </a:p>
      </dsp:txBody>
      <dsp:txXfrm>
        <a:off x="2797054" y="445489"/>
        <a:ext cx="2539866" cy="1523919"/>
      </dsp:txXfrm>
    </dsp:sp>
    <dsp:sp modelId="{624412FE-D394-4750-8A1F-9B988AC13A89}">
      <dsp:nvSpPr>
        <dsp:cNvPr id="0" name=""/>
        <dsp:cNvSpPr/>
      </dsp:nvSpPr>
      <dsp:spPr>
        <a:xfrm>
          <a:off x="5590907" y="445489"/>
          <a:ext cx="2539866" cy="1523919"/>
        </a:xfrm>
        <a:prstGeom prst="rect">
          <a:avLst/>
        </a:prstGeom>
        <a:solidFill>
          <a:schemeClr val="accent5">
            <a:hueOff val="-2838251"/>
            <a:satOff val="11375"/>
            <a:lumOff val="246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Özellik çıkarımı yöntemleri</a:t>
          </a:r>
        </a:p>
      </dsp:txBody>
      <dsp:txXfrm>
        <a:off x="5590907" y="445489"/>
        <a:ext cx="2539866" cy="1523919"/>
      </dsp:txXfrm>
    </dsp:sp>
    <dsp:sp modelId="{85302901-AFEC-453B-9ACA-485FA0AB470F}">
      <dsp:nvSpPr>
        <dsp:cNvPr id="0" name=""/>
        <dsp:cNvSpPr/>
      </dsp:nvSpPr>
      <dsp:spPr>
        <a:xfrm>
          <a:off x="8384760" y="445489"/>
          <a:ext cx="2539866" cy="1523919"/>
        </a:xfrm>
        <a:prstGeom prst="rect">
          <a:avLst/>
        </a:prstGeom>
        <a:solidFill>
          <a:schemeClr val="accent5">
            <a:hueOff val="-4257376"/>
            <a:satOff val="17062"/>
            <a:lumOff val="36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Modeller</a:t>
          </a:r>
          <a:r>
            <a:rPr lang="en-US" sz="2400" kern="1200" dirty="0"/>
            <a:t> </a:t>
          </a:r>
        </a:p>
      </dsp:txBody>
      <dsp:txXfrm>
        <a:off x="8384760" y="445489"/>
        <a:ext cx="2539866" cy="1523919"/>
      </dsp:txXfrm>
    </dsp:sp>
    <dsp:sp modelId="{7118ED36-A8F8-41AF-8B39-E59D3DC53EC1}">
      <dsp:nvSpPr>
        <dsp:cNvPr id="0" name=""/>
        <dsp:cNvSpPr/>
      </dsp:nvSpPr>
      <dsp:spPr>
        <a:xfrm>
          <a:off x="3201" y="2223395"/>
          <a:ext cx="2539866" cy="1523919"/>
        </a:xfrm>
        <a:prstGeom prst="rect">
          <a:avLst/>
        </a:prstGeom>
        <a:solidFill>
          <a:schemeClr val="accent5">
            <a:hueOff val="-5676501"/>
            <a:satOff val="22749"/>
            <a:lumOff val="49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Deneysel kurulum &amp; hiperparametreler</a:t>
          </a:r>
        </a:p>
      </dsp:txBody>
      <dsp:txXfrm>
        <a:off x="3201" y="2223395"/>
        <a:ext cx="2539866" cy="1523919"/>
      </dsp:txXfrm>
    </dsp:sp>
    <dsp:sp modelId="{C9703A11-12E8-40D0-811E-7CD12BDB7074}">
      <dsp:nvSpPr>
        <dsp:cNvPr id="0" name=""/>
        <dsp:cNvSpPr/>
      </dsp:nvSpPr>
      <dsp:spPr>
        <a:xfrm>
          <a:off x="2797054" y="2223395"/>
          <a:ext cx="2539866" cy="1523919"/>
        </a:xfrm>
        <a:prstGeom prst="rect">
          <a:avLst/>
        </a:prstGeom>
        <a:solidFill>
          <a:schemeClr val="accent5">
            <a:hueOff val="-7095626"/>
            <a:satOff val="28436"/>
            <a:lumOff val="616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Sonuçlar — karşılaştırmalı analiz</a:t>
          </a:r>
        </a:p>
      </dsp:txBody>
      <dsp:txXfrm>
        <a:off x="2797054" y="2223395"/>
        <a:ext cx="2539866" cy="1523919"/>
      </dsp:txXfrm>
    </dsp:sp>
    <dsp:sp modelId="{EAD9C891-7E28-4894-9415-07AAD2C2FD9F}">
      <dsp:nvSpPr>
        <dsp:cNvPr id="0" name=""/>
        <dsp:cNvSpPr/>
      </dsp:nvSpPr>
      <dsp:spPr>
        <a:xfrm>
          <a:off x="5590907" y="2223395"/>
          <a:ext cx="2539866" cy="1523919"/>
        </a:xfrm>
        <a:prstGeom prst="rect">
          <a:avLst/>
        </a:prstGeom>
        <a:solidFill>
          <a:schemeClr val="accent5">
            <a:hueOff val="-8514751"/>
            <a:satOff val="34124"/>
            <a:lumOff val="739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Hata </a:t>
          </a:r>
          <a:r>
            <a:rPr lang="en-US" sz="2400" kern="1200" dirty="0" err="1"/>
            <a:t>analizi</a:t>
          </a:r>
          <a:endParaRPr lang="en-US" sz="2400" kern="1200" dirty="0"/>
        </a:p>
      </dsp:txBody>
      <dsp:txXfrm>
        <a:off x="5590907" y="2223395"/>
        <a:ext cx="2539866" cy="1523919"/>
      </dsp:txXfrm>
    </dsp:sp>
    <dsp:sp modelId="{94B47835-41BB-43B9-9C6D-2B56349856F2}">
      <dsp:nvSpPr>
        <dsp:cNvPr id="0" name=""/>
        <dsp:cNvSpPr/>
      </dsp:nvSpPr>
      <dsp:spPr>
        <a:xfrm>
          <a:off x="8384760" y="2223395"/>
          <a:ext cx="2539866" cy="1523919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Ekler: </a:t>
          </a:r>
          <a:r>
            <a:rPr lang="en-US" sz="2400" kern="1200" dirty="0" err="1"/>
            <a:t>kod</a:t>
          </a:r>
          <a:r>
            <a:rPr lang="en-US" sz="2400" kern="1200" dirty="0"/>
            <a:t> </a:t>
          </a:r>
          <a:r>
            <a:rPr lang="en-US" sz="2400" kern="1200" dirty="0" err="1"/>
            <a:t>başlıkları</a:t>
          </a:r>
          <a:r>
            <a:rPr lang="en-US" sz="2400" kern="1200" dirty="0"/>
            <a:t>, </a:t>
          </a:r>
          <a:r>
            <a:rPr lang="en-US" sz="2400" kern="1200" dirty="0" err="1"/>
            <a:t>eğitim</a:t>
          </a:r>
          <a:r>
            <a:rPr lang="en-US" sz="2400" kern="1200" dirty="0"/>
            <a:t> </a:t>
          </a:r>
          <a:r>
            <a:rPr lang="en-US" sz="2400" kern="1200" dirty="0" err="1"/>
            <a:t>eğrileri</a:t>
          </a:r>
          <a:r>
            <a:rPr lang="en-US" sz="2400" kern="1200" dirty="0"/>
            <a:t>, </a:t>
          </a:r>
          <a:r>
            <a:rPr lang="en-US" sz="2400" kern="1200" dirty="0" err="1"/>
            <a:t>veri</a:t>
          </a:r>
          <a:r>
            <a:rPr lang="en-US" sz="2400" kern="1200" dirty="0"/>
            <a:t> </a:t>
          </a:r>
          <a:r>
            <a:rPr lang="en-US" sz="2400" kern="1200" dirty="0" err="1"/>
            <a:t>erişimi</a:t>
          </a:r>
          <a:endParaRPr lang="en-US" sz="2400" kern="1200" dirty="0"/>
        </a:p>
      </dsp:txBody>
      <dsp:txXfrm>
        <a:off x="8384760" y="2223395"/>
        <a:ext cx="2539866" cy="15239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3692C6-30D9-45EA-8497-34B712BD9783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2C67F7-E789-4138-9FED-EE361195C2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326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Sunum süresine göre bu slayt özeti ile yöneteceksiniz.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Metodolojik sıralamayı vurgulayın: önce baseline, sonra iyileştirme.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Tablo veya grafik üzerinden sınıf dağılımını hızlıca gösterin.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Kısa ve net anlatım; neden TF-IDF kullanıldığına vurgu.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83B74-AE7B-915F-6ACA-540947317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46F555-8F81-BF0A-2301-5E69D76BD0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F22B5-E661-DFFC-F670-9C18F2C668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Tablonun üzerine konuşarak model performans ve süre farklarını açıklayın.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0FD96-3AF3-A4A6-EE39-88BAF34205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62770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02FB5D-4876-06FB-5F5A-A80FBD46970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818938" y="6642100"/>
            <a:ext cx="3381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8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 /><Relationship Id="rId7" Type="http://schemas.microsoft.com/office/2007/relationships/diagramDrawing" Target="../diagrams/drawing1.xml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7.xml" /><Relationship Id="rId6" Type="http://schemas.openxmlformats.org/officeDocument/2006/relationships/diagramColors" Target="../diagrams/colors1.xml" /><Relationship Id="rId5" Type="http://schemas.openxmlformats.org/officeDocument/2006/relationships/diagramQuickStyle" Target="../diagrams/quickStyle1.xml" /><Relationship Id="rId4" Type="http://schemas.openxmlformats.org/officeDocument/2006/relationships/diagramLayout" Target="../diagrams/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7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7.xml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femehmetkarabulut/Academic-Abstract-Dataset-for-Large-Scale-Academic-Text-Classification.git" TargetMode="External" /><Relationship Id="rId2" Type="http://schemas.openxmlformats.org/officeDocument/2006/relationships/hyperlink" Target="mailto:efe.karabulut@avl.com" TargetMode="External" /><Relationship Id="rId1" Type="http://schemas.openxmlformats.org/officeDocument/2006/relationships/slideLayout" Target="../slideLayouts/slideLayout7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D53AC1-1546-0B30-C976-207C8BC14DC1}"/>
              </a:ext>
            </a:extLst>
          </p:cNvPr>
          <p:cNvSpPr txBox="1"/>
          <p:nvPr/>
        </p:nvSpPr>
        <p:spPr>
          <a:xfrm>
            <a:off x="1314824" y="735106"/>
            <a:ext cx="10053763" cy="29284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Büyük Ölçekli Akademik Metin Sınıflandırması için Klasik ve Derin Öğrenme Yaklaşımları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8FADFC-53A3-1749-9B44-6B363098DB7C}"/>
              </a:ext>
            </a:extLst>
          </p:cNvPr>
          <p:cNvSpPr txBox="1"/>
          <p:nvPr/>
        </p:nvSpPr>
        <p:spPr>
          <a:xfrm>
            <a:off x="1350682" y="4870824"/>
            <a:ext cx="10005951" cy="14582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1400" b="1">
                <a:latin typeface="DejaVu Sans"/>
              </a:defRPr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Efe Mehmet Karabulut (AVL Research &amp; Engineering) — İrfan Kosesoy (Kocaeli University)</a:t>
            </a:r>
          </a:p>
        </p:txBody>
      </p:sp>
    </p:spTree>
    <p:extLst>
      <p:ext uri="{BB962C8B-B14F-4D97-AF65-F5344CB8AC3E}">
        <p14:creationId xmlns:p14="http://schemas.microsoft.com/office/powerpoint/2010/main" val="1687399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latin typeface="DejaVu Sans"/>
              </a:defRPr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Sunum Akışı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222FB230-D7C0-4126-5031-CADDFC1F09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74424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latin typeface="DejaVu Sans"/>
              </a:defRPr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Motivasyon ve Çalışmanın Hedefleri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DejaVu Sans"/>
              </a:defRPr>
            </a:pPr>
            <a:r>
              <a:rPr lang="en-US" sz="2800" dirty="0" err="1"/>
              <a:t>Birincil</a:t>
            </a:r>
            <a:r>
              <a:rPr lang="en-US" sz="2800" dirty="0"/>
              <a:t> </a:t>
            </a:r>
            <a:r>
              <a:rPr lang="en-US" sz="2800" dirty="0" err="1"/>
              <a:t>hedef</a:t>
            </a:r>
            <a:r>
              <a:rPr lang="en-US" sz="2800" dirty="0"/>
              <a:t>: </a:t>
            </a:r>
            <a:r>
              <a:rPr lang="en-US" sz="2800" dirty="0" err="1"/>
              <a:t>Klasik</a:t>
            </a:r>
            <a:r>
              <a:rPr lang="en-US" sz="2800" dirty="0"/>
              <a:t> ML </a:t>
            </a:r>
            <a:r>
              <a:rPr lang="en-US" sz="2800" dirty="0" err="1"/>
              <a:t>yöntemleri</a:t>
            </a:r>
            <a:r>
              <a:rPr lang="en-US" sz="2800" dirty="0"/>
              <a:t> (Naive Bayes, RF, SVM) </a:t>
            </a:r>
            <a:r>
              <a:rPr lang="en-US" sz="2800" dirty="0" err="1"/>
              <a:t>ile</a:t>
            </a:r>
            <a:r>
              <a:rPr lang="en-US" sz="2800" dirty="0"/>
              <a:t> </a:t>
            </a:r>
            <a:r>
              <a:rPr lang="en-US" sz="2800" dirty="0" err="1"/>
              <a:t>temel</a:t>
            </a:r>
            <a:r>
              <a:rPr lang="en-US" sz="2800" dirty="0"/>
              <a:t> BERT </a:t>
            </a:r>
            <a:r>
              <a:rPr lang="en-US" sz="2800" dirty="0" err="1"/>
              <a:t>modelinin</a:t>
            </a:r>
            <a:r>
              <a:rPr lang="en-US" sz="2800" dirty="0"/>
              <a:t> </a:t>
            </a:r>
            <a:r>
              <a:rPr lang="en-US" sz="2800" dirty="0" err="1"/>
              <a:t>karşılaştırılması</a:t>
            </a:r>
            <a:r>
              <a:rPr lang="en-US" sz="2800" dirty="0"/>
              <a:t>.</a:t>
            </a:r>
            <a:endParaRPr lang="tr-TR" sz="28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>
                <a:latin typeface="DejaVu Sans"/>
              </a:defRPr>
            </a:pPr>
            <a:endParaRPr lang="en-US" sz="28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DejaVu Sans"/>
              </a:defRPr>
            </a:pPr>
            <a:r>
              <a:rPr lang="en-US" sz="2800" dirty="0" err="1"/>
              <a:t>İkincil</a:t>
            </a:r>
            <a:r>
              <a:rPr lang="en-US" sz="2800" dirty="0"/>
              <a:t> </a:t>
            </a:r>
            <a:r>
              <a:rPr lang="en-US" sz="2800" dirty="0" err="1"/>
              <a:t>hedef</a:t>
            </a:r>
            <a:r>
              <a:rPr lang="en-US" sz="2800" dirty="0"/>
              <a:t>: BERT </a:t>
            </a:r>
            <a:r>
              <a:rPr lang="en-US" sz="2800" dirty="0" err="1"/>
              <a:t>türevleri</a:t>
            </a:r>
            <a:r>
              <a:rPr lang="en-US" sz="2800" dirty="0"/>
              <a:t> </a:t>
            </a:r>
            <a:r>
              <a:rPr lang="en-US" sz="2800" dirty="0" err="1"/>
              <a:t>ve</a:t>
            </a:r>
            <a:r>
              <a:rPr lang="en-US" sz="2800" dirty="0"/>
              <a:t> K-Fold </a:t>
            </a:r>
            <a:r>
              <a:rPr lang="en-US" sz="2800" dirty="0" err="1"/>
              <a:t>ile</a:t>
            </a:r>
            <a:r>
              <a:rPr lang="en-US" sz="2800" dirty="0"/>
              <a:t> </a:t>
            </a:r>
            <a:r>
              <a:rPr lang="en-US" sz="2800" dirty="0" err="1"/>
              <a:t>potansiyel</a:t>
            </a:r>
            <a:r>
              <a:rPr lang="en-US" sz="2800" dirty="0"/>
              <a:t> </a:t>
            </a:r>
            <a:r>
              <a:rPr lang="en-US" sz="2800" dirty="0" err="1"/>
              <a:t>performans</a:t>
            </a:r>
            <a:r>
              <a:rPr lang="en-US" sz="2800" dirty="0"/>
              <a:t> </a:t>
            </a:r>
            <a:r>
              <a:rPr lang="en-US" sz="2800" dirty="0" err="1"/>
              <a:t>artışının</a:t>
            </a:r>
            <a:r>
              <a:rPr lang="en-US" sz="2800" dirty="0"/>
              <a:t> </a:t>
            </a:r>
            <a:r>
              <a:rPr lang="en-US" sz="2800" dirty="0" err="1"/>
              <a:t>araştırılması</a:t>
            </a:r>
            <a:r>
              <a:rPr lang="en-US" sz="28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CD46A3-383A-D9FD-9229-BAE11BE34A35}"/>
              </a:ext>
            </a:extLst>
          </p:cNvPr>
          <p:cNvSpPr txBox="1"/>
          <p:nvPr/>
        </p:nvSpPr>
        <p:spPr>
          <a:xfrm>
            <a:off x="0" y="0"/>
            <a:ext cx="12192000" cy="23083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000" b="1" dirty="0"/>
              <a:t>1. Naive Bayes (Saf Bayes)</a:t>
            </a:r>
          </a:p>
          <a:p>
            <a:r>
              <a:rPr lang="en-GB" sz="1500" b="1" dirty="0" err="1"/>
              <a:t>Nasıl</a:t>
            </a:r>
            <a:r>
              <a:rPr lang="en-GB" sz="1500" b="1" dirty="0"/>
              <a:t>, </a:t>
            </a:r>
            <a:r>
              <a:rPr lang="en-GB" sz="1500" b="1" dirty="0" err="1"/>
              <a:t>Nerede</a:t>
            </a:r>
            <a:r>
              <a:rPr lang="en-GB" sz="1500" b="1" dirty="0"/>
              <a:t>, Ne Zaman, Ne </a:t>
            </a:r>
            <a:r>
              <a:rPr lang="en-GB" sz="1500" b="1" dirty="0" err="1"/>
              <a:t>Amaçla</a:t>
            </a:r>
            <a:r>
              <a:rPr lang="en-GB" sz="1500" b="1" dirty="0"/>
              <a:t> </a:t>
            </a:r>
            <a:r>
              <a:rPr lang="en-GB" sz="1500" b="1" dirty="0" err="1"/>
              <a:t>Ortaya</a:t>
            </a:r>
            <a:r>
              <a:rPr lang="en-GB" sz="1500" b="1" dirty="0"/>
              <a:t> </a:t>
            </a:r>
            <a:r>
              <a:rPr lang="en-GB" sz="1500" b="1" dirty="0" err="1"/>
              <a:t>Çıktı</a:t>
            </a:r>
            <a:r>
              <a:rPr lang="en-GB" sz="1500" b="1" dirty="0"/>
              <a:t>?</a:t>
            </a:r>
            <a:r>
              <a:rPr lang="en-GB" sz="1500" dirty="0"/>
              <a:t> </a:t>
            </a:r>
            <a:r>
              <a:rPr lang="en-GB" sz="1500" dirty="0" err="1"/>
              <a:t>Olasılık</a:t>
            </a:r>
            <a:r>
              <a:rPr lang="en-GB" sz="1500" dirty="0"/>
              <a:t> </a:t>
            </a:r>
            <a:r>
              <a:rPr lang="en-GB" sz="1500" dirty="0" err="1"/>
              <a:t>teorisine</a:t>
            </a:r>
            <a:r>
              <a:rPr lang="en-GB" sz="1500" dirty="0"/>
              <a:t> </a:t>
            </a:r>
            <a:r>
              <a:rPr lang="en-GB" sz="1500" dirty="0" err="1"/>
              <a:t>dayanan</a:t>
            </a:r>
            <a:r>
              <a:rPr lang="en-GB" sz="1500" dirty="0"/>
              <a:t> Naive Bayes, 1950'lerde "</a:t>
            </a:r>
            <a:r>
              <a:rPr lang="en-GB" sz="1500" dirty="0" err="1"/>
              <a:t>saf</a:t>
            </a:r>
            <a:r>
              <a:rPr lang="en-GB" sz="1500" dirty="0"/>
              <a:t>" </a:t>
            </a:r>
            <a:r>
              <a:rPr lang="en-GB" sz="1500" dirty="0" err="1"/>
              <a:t>bir</a:t>
            </a:r>
            <a:r>
              <a:rPr lang="en-GB" sz="1500" dirty="0"/>
              <a:t> </a:t>
            </a:r>
            <a:r>
              <a:rPr lang="en-GB" sz="1500" dirty="0" err="1"/>
              <a:t>varsayım</a:t>
            </a:r>
            <a:r>
              <a:rPr lang="en-GB" sz="1500" dirty="0"/>
              <a:t> </a:t>
            </a:r>
            <a:r>
              <a:rPr lang="en-GB" sz="1500" dirty="0" err="1"/>
              <a:t>üzerine</a:t>
            </a:r>
            <a:r>
              <a:rPr lang="en-GB" sz="1500" dirty="0"/>
              <a:t> </a:t>
            </a:r>
            <a:r>
              <a:rPr lang="en-GB" sz="1500" dirty="0" err="1"/>
              <a:t>kuruldu</a:t>
            </a:r>
            <a:r>
              <a:rPr lang="en-GB" sz="1500" dirty="0"/>
              <a:t>: Bir </a:t>
            </a:r>
            <a:r>
              <a:rPr lang="en-GB" sz="1500" dirty="0" err="1"/>
              <a:t>özellik</a:t>
            </a:r>
            <a:r>
              <a:rPr lang="en-GB" sz="1500" dirty="0"/>
              <a:t> (</a:t>
            </a:r>
            <a:r>
              <a:rPr lang="en-GB" sz="1500" dirty="0" err="1"/>
              <a:t>kelime</a:t>
            </a:r>
            <a:r>
              <a:rPr lang="en-GB" sz="1500" dirty="0"/>
              <a:t>), </a:t>
            </a:r>
            <a:r>
              <a:rPr lang="en-GB" sz="1500" dirty="0" err="1"/>
              <a:t>diğer</a:t>
            </a:r>
            <a:r>
              <a:rPr lang="en-GB" sz="1500" dirty="0"/>
              <a:t> </a:t>
            </a:r>
            <a:r>
              <a:rPr lang="en-GB" sz="1500" dirty="0" err="1"/>
              <a:t>özelliklerden</a:t>
            </a:r>
            <a:r>
              <a:rPr lang="en-GB" sz="1500" dirty="0"/>
              <a:t> </a:t>
            </a:r>
            <a:r>
              <a:rPr lang="en-GB" sz="1500" dirty="0" err="1"/>
              <a:t>tamamen</a:t>
            </a:r>
            <a:r>
              <a:rPr lang="en-GB" sz="1500" dirty="0"/>
              <a:t> </a:t>
            </a:r>
            <a:r>
              <a:rPr lang="en-GB" sz="1500" dirty="0" err="1"/>
              <a:t>bağımsızdır</a:t>
            </a:r>
            <a:r>
              <a:rPr lang="en-GB" sz="1500" dirty="0"/>
              <a:t>. Bu </a:t>
            </a:r>
            <a:r>
              <a:rPr lang="en-GB" sz="1500" dirty="0" err="1"/>
              <a:t>basitlik</a:t>
            </a:r>
            <a:r>
              <a:rPr lang="en-GB" sz="1500" dirty="0"/>
              <a:t>, </a:t>
            </a:r>
            <a:r>
              <a:rPr lang="en-GB" sz="1500" dirty="0" err="1"/>
              <a:t>onu</a:t>
            </a:r>
            <a:r>
              <a:rPr lang="en-GB" sz="1500" dirty="0"/>
              <a:t> </a:t>
            </a:r>
            <a:r>
              <a:rPr lang="en-GB" sz="1500" dirty="0" err="1"/>
              <a:t>metin</a:t>
            </a:r>
            <a:r>
              <a:rPr lang="en-GB" sz="1500" dirty="0"/>
              <a:t> </a:t>
            </a:r>
            <a:r>
              <a:rPr lang="en-GB" sz="1500" dirty="0" err="1"/>
              <a:t>sınıflandırma</a:t>
            </a:r>
            <a:r>
              <a:rPr lang="en-GB" sz="1500" dirty="0"/>
              <a:t> </a:t>
            </a:r>
            <a:r>
              <a:rPr lang="en-GB" sz="1500" dirty="0" err="1"/>
              <a:t>ve</a:t>
            </a:r>
            <a:r>
              <a:rPr lang="en-GB" sz="1500" dirty="0"/>
              <a:t> spam </a:t>
            </a:r>
            <a:r>
              <a:rPr lang="en-GB" sz="1500" dirty="0" err="1"/>
              <a:t>filtreleme</a:t>
            </a:r>
            <a:r>
              <a:rPr lang="en-GB" sz="1500" dirty="0"/>
              <a:t> </a:t>
            </a:r>
            <a:r>
              <a:rPr lang="en-GB" sz="1500" dirty="0" err="1"/>
              <a:t>gibi</a:t>
            </a:r>
            <a:r>
              <a:rPr lang="en-GB" sz="1500" dirty="0"/>
              <a:t> </a:t>
            </a:r>
            <a:r>
              <a:rPr lang="en-GB" sz="1500" dirty="0" err="1"/>
              <a:t>görevler</a:t>
            </a:r>
            <a:r>
              <a:rPr lang="en-GB" sz="1500" dirty="0"/>
              <a:t> </a:t>
            </a:r>
            <a:r>
              <a:rPr lang="en-GB" sz="1500" dirty="0" err="1"/>
              <a:t>için</a:t>
            </a:r>
            <a:r>
              <a:rPr lang="en-GB" sz="1500" dirty="0"/>
              <a:t> ilk </a:t>
            </a:r>
            <a:r>
              <a:rPr lang="en-GB" sz="1500" dirty="0" err="1"/>
              <a:t>ve</a:t>
            </a:r>
            <a:r>
              <a:rPr lang="en-GB" sz="1500" dirty="0"/>
              <a:t> </a:t>
            </a:r>
            <a:r>
              <a:rPr lang="en-GB" sz="1500" dirty="0" err="1"/>
              <a:t>en</a:t>
            </a:r>
            <a:r>
              <a:rPr lang="en-GB" sz="1500" dirty="0"/>
              <a:t> </a:t>
            </a:r>
            <a:r>
              <a:rPr lang="en-GB" sz="1500" dirty="0" err="1"/>
              <a:t>hızlı</a:t>
            </a:r>
            <a:r>
              <a:rPr lang="en-GB" sz="1500" dirty="0"/>
              <a:t> </a:t>
            </a:r>
            <a:r>
              <a:rPr lang="en-GB" sz="1500" dirty="0" err="1"/>
              <a:t>yöntemlerden</a:t>
            </a:r>
            <a:r>
              <a:rPr lang="en-GB" sz="1500" dirty="0"/>
              <a:t> </a:t>
            </a:r>
            <a:r>
              <a:rPr lang="en-GB" sz="1500" dirty="0" err="1"/>
              <a:t>biri</a:t>
            </a:r>
            <a:r>
              <a:rPr lang="en-GB" sz="1500" dirty="0"/>
              <a:t> </a:t>
            </a:r>
            <a:r>
              <a:rPr lang="en-GB" sz="1500" dirty="0" err="1"/>
              <a:t>haline</a:t>
            </a:r>
            <a:r>
              <a:rPr lang="en-GB" sz="1500" dirty="0"/>
              <a:t> </a:t>
            </a:r>
            <a:r>
              <a:rPr lang="en-GB" sz="1500" dirty="0" err="1"/>
              <a:t>getirdi</a:t>
            </a:r>
            <a:r>
              <a:rPr lang="en-GB" sz="1500" dirty="0"/>
              <a:t>.</a:t>
            </a:r>
          </a:p>
          <a:p>
            <a:r>
              <a:rPr lang="en-GB" sz="1500" b="1" dirty="0"/>
              <a:t>Hangi </a:t>
            </a:r>
            <a:r>
              <a:rPr lang="en-GB" sz="1500" b="1" dirty="0" err="1"/>
              <a:t>Verilerle</a:t>
            </a:r>
            <a:r>
              <a:rPr lang="en-GB" sz="1500" b="1" dirty="0"/>
              <a:t> </a:t>
            </a:r>
            <a:r>
              <a:rPr lang="en-GB" sz="1500" b="1" dirty="0" err="1"/>
              <a:t>Başarılı</a:t>
            </a:r>
            <a:r>
              <a:rPr lang="en-GB" sz="1500" b="1" dirty="0"/>
              <a:t>?</a:t>
            </a:r>
            <a:r>
              <a:rPr lang="en-GB" sz="1500" dirty="0"/>
              <a:t> Metin </a:t>
            </a:r>
            <a:r>
              <a:rPr lang="en-GB" sz="1500" dirty="0" err="1"/>
              <a:t>sınıflandırma</a:t>
            </a:r>
            <a:r>
              <a:rPr lang="en-GB" sz="1500" dirty="0"/>
              <a:t>, </a:t>
            </a:r>
            <a:r>
              <a:rPr lang="en-GB" sz="1500" dirty="0" err="1"/>
              <a:t>duygu</a:t>
            </a:r>
            <a:r>
              <a:rPr lang="en-GB" sz="1500" dirty="0"/>
              <a:t> </a:t>
            </a:r>
            <a:r>
              <a:rPr lang="en-GB" sz="1500" dirty="0" err="1"/>
              <a:t>analizi</a:t>
            </a:r>
            <a:r>
              <a:rPr lang="en-GB" sz="1500" dirty="0"/>
              <a:t> </a:t>
            </a:r>
            <a:r>
              <a:rPr lang="en-GB" sz="1500" dirty="0" err="1"/>
              <a:t>ve</a:t>
            </a:r>
            <a:r>
              <a:rPr lang="en-GB" sz="1500" dirty="0"/>
              <a:t> spam </a:t>
            </a:r>
            <a:r>
              <a:rPr lang="en-GB" sz="1500" dirty="0" err="1"/>
              <a:t>tespiti</a:t>
            </a:r>
            <a:r>
              <a:rPr lang="en-GB" sz="1500" dirty="0"/>
              <a:t> </a:t>
            </a:r>
            <a:r>
              <a:rPr lang="en-GB" sz="1500" dirty="0" err="1"/>
              <a:t>gibi</a:t>
            </a:r>
            <a:r>
              <a:rPr lang="en-GB" sz="1500" dirty="0"/>
              <a:t> </a:t>
            </a:r>
            <a:r>
              <a:rPr lang="en-GB" sz="1500" b="1" dirty="0" err="1"/>
              <a:t>ayrık</a:t>
            </a:r>
            <a:r>
              <a:rPr lang="en-GB" sz="1500" b="1" dirty="0"/>
              <a:t> </a:t>
            </a:r>
            <a:r>
              <a:rPr lang="en-GB" sz="1500" b="1" dirty="0" err="1"/>
              <a:t>ve</a:t>
            </a:r>
            <a:r>
              <a:rPr lang="en-GB" sz="1500" b="1" dirty="0"/>
              <a:t> </a:t>
            </a:r>
            <a:r>
              <a:rPr lang="en-GB" sz="1500" b="1" dirty="0" err="1"/>
              <a:t>kategorik</a:t>
            </a:r>
            <a:r>
              <a:rPr lang="en-GB" sz="1500" b="1" dirty="0"/>
              <a:t> </a:t>
            </a:r>
            <a:r>
              <a:rPr lang="en-GB" sz="1500" b="1" dirty="0" err="1"/>
              <a:t>verilere</a:t>
            </a:r>
            <a:r>
              <a:rPr lang="en-GB" sz="1500" dirty="0"/>
              <a:t> </a:t>
            </a:r>
            <a:r>
              <a:rPr lang="en-GB" sz="1500" dirty="0" err="1"/>
              <a:t>sahip</a:t>
            </a:r>
            <a:r>
              <a:rPr lang="en-GB" sz="1500" dirty="0"/>
              <a:t> </a:t>
            </a:r>
            <a:r>
              <a:rPr lang="en-GB" sz="1500" dirty="0" err="1"/>
              <a:t>problemlerle</a:t>
            </a:r>
            <a:r>
              <a:rPr lang="en-GB" sz="1500" dirty="0"/>
              <a:t> </a:t>
            </a:r>
            <a:r>
              <a:rPr lang="en-GB" sz="1500" dirty="0" err="1"/>
              <a:t>daha</a:t>
            </a:r>
            <a:r>
              <a:rPr lang="en-GB" sz="1500" dirty="0"/>
              <a:t> </a:t>
            </a:r>
            <a:r>
              <a:rPr lang="en-GB" sz="1500" dirty="0" err="1"/>
              <a:t>başarılıdır</a:t>
            </a:r>
            <a:r>
              <a:rPr lang="en-GB" sz="1500" dirty="0"/>
              <a:t>. </a:t>
            </a:r>
            <a:r>
              <a:rPr lang="en-GB" sz="1500" b="1" dirty="0" err="1"/>
              <a:t>Özellikle</a:t>
            </a:r>
            <a:r>
              <a:rPr lang="en-GB" sz="1500" b="1" dirty="0"/>
              <a:t> </a:t>
            </a:r>
            <a:r>
              <a:rPr lang="en-GB" sz="1500" b="1" dirty="0" err="1"/>
              <a:t>veri</a:t>
            </a:r>
            <a:r>
              <a:rPr lang="en-GB" sz="1500" b="1" dirty="0"/>
              <a:t> </a:t>
            </a:r>
            <a:r>
              <a:rPr lang="en-GB" sz="1500" b="1" dirty="0" err="1"/>
              <a:t>setinin</a:t>
            </a:r>
            <a:r>
              <a:rPr lang="en-GB" sz="1500" b="1" dirty="0"/>
              <a:t> </a:t>
            </a:r>
            <a:r>
              <a:rPr lang="en-GB" sz="1500" b="1" dirty="0" err="1"/>
              <a:t>çok</a:t>
            </a:r>
            <a:r>
              <a:rPr lang="en-GB" sz="1500" b="1" dirty="0"/>
              <a:t> </a:t>
            </a:r>
            <a:r>
              <a:rPr lang="en-GB" sz="1500" b="1" dirty="0" err="1"/>
              <a:t>büyük</a:t>
            </a:r>
            <a:r>
              <a:rPr lang="en-GB" sz="1500" b="1" dirty="0"/>
              <a:t> </a:t>
            </a:r>
            <a:r>
              <a:rPr lang="en-GB" sz="1500" b="1" dirty="0" err="1"/>
              <a:t>olmadığı</a:t>
            </a:r>
            <a:r>
              <a:rPr lang="en-GB" sz="1500" b="1" dirty="0"/>
              <a:t> </a:t>
            </a:r>
            <a:r>
              <a:rPr lang="en-GB" sz="1500" b="1" dirty="0" err="1"/>
              <a:t>durumlarda</a:t>
            </a:r>
            <a:r>
              <a:rPr lang="en-GB" sz="1500" b="1" dirty="0"/>
              <a:t> </a:t>
            </a:r>
            <a:r>
              <a:rPr lang="en-GB" sz="1500" b="1" dirty="0" err="1"/>
              <a:t>etkilidir</a:t>
            </a:r>
            <a:r>
              <a:rPr lang="en-GB" sz="1500" b="1" dirty="0"/>
              <a:t>.</a:t>
            </a:r>
          </a:p>
          <a:p>
            <a:r>
              <a:rPr lang="en-GB" sz="1500" b="1" dirty="0" err="1"/>
              <a:t>Çalışma</a:t>
            </a:r>
            <a:r>
              <a:rPr lang="en-GB" sz="1500" b="1" dirty="0"/>
              <a:t> </a:t>
            </a:r>
            <a:r>
              <a:rPr lang="en-GB" sz="1500" b="1" dirty="0" err="1"/>
              <a:t>Prensibi</a:t>
            </a:r>
            <a:r>
              <a:rPr lang="en-GB" sz="1500" b="1" dirty="0"/>
              <a:t>:</a:t>
            </a:r>
            <a:r>
              <a:rPr lang="en-GB" sz="1500" dirty="0"/>
              <a:t> Bir </a:t>
            </a:r>
            <a:r>
              <a:rPr lang="en-GB" sz="1500" dirty="0" err="1"/>
              <a:t>metni</a:t>
            </a:r>
            <a:r>
              <a:rPr lang="en-GB" sz="1500" dirty="0"/>
              <a:t> </a:t>
            </a:r>
            <a:r>
              <a:rPr lang="en-GB" sz="1500" dirty="0" err="1"/>
              <a:t>sınıflandırmak</a:t>
            </a:r>
            <a:r>
              <a:rPr lang="en-GB" sz="1500" dirty="0"/>
              <a:t> </a:t>
            </a:r>
            <a:r>
              <a:rPr lang="en-GB" sz="1500" dirty="0" err="1"/>
              <a:t>için</a:t>
            </a:r>
            <a:r>
              <a:rPr lang="en-GB" sz="1500" dirty="0"/>
              <a:t>, </a:t>
            </a:r>
            <a:r>
              <a:rPr lang="en-GB" sz="1500" dirty="0" err="1"/>
              <a:t>metindeki</a:t>
            </a:r>
            <a:r>
              <a:rPr lang="en-GB" sz="1500" dirty="0"/>
              <a:t> her </a:t>
            </a:r>
            <a:r>
              <a:rPr lang="en-GB" sz="1500" dirty="0" err="1"/>
              <a:t>kelimenin</a:t>
            </a:r>
            <a:r>
              <a:rPr lang="en-GB" sz="1500" dirty="0"/>
              <a:t> her </a:t>
            </a:r>
            <a:r>
              <a:rPr lang="en-GB" sz="1500" dirty="0" err="1"/>
              <a:t>bir</a:t>
            </a:r>
            <a:r>
              <a:rPr lang="en-GB" sz="1500" dirty="0"/>
              <a:t> </a:t>
            </a:r>
            <a:r>
              <a:rPr lang="en-GB" sz="1500" dirty="0" err="1"/>
              <a:t>kategoriye</a:t>
            </a:r>
            <a:r>
              <a:rPr lang="en-GB" sz="1500" dirty="0"/>
              <a:t> ait </a:t>
            </a:r>
            <a:r>
              <a:rPr lang="en-GB" sz="1500" dirty="0" err="1"/>
              <a:t>olma</a:t>
            </a:r>
            <a:r>
              <a:rPr lang="en-GB" sz="1500" dirty="0"/>
              <a:t> </a:t>
            </a:r>
            <a:r>
              <a:rPr lang="en-GB" sz="1500" dirty="0" err="1"/>
              <a:t>olasılığını</a:t>
            </a:r>
            <a:r>
              <a:rPr lang="en-GB" sz="1500" dirty="0"/>
              <a:t> </a:t>
            </a:r>
            <a:r>
              <a:rPr lang="en-GB" sz="1500" dirty="0" err="1"/>
              <a:t>hesaplar</a:t>
            </a:r>
            <a:r>
              <a:rPr lang="en-GB" sz="1500" dirty="0"/>
              <a:t> </a:t>
            </a:r>
            <a:r>
              <a:rPr lang="en-GB" sz="1500" dirty="0" err="1"/>
              <a:t>ve</a:t>
            </a:r>
            <a:r>
              <a:rPr lang="en-GB" sz="1500" dirty="0"/>
              <a:t> </a:t>
            </a:r>
            <a:r>
              <a:rPr lang="en-GB" sz="1500" dirty="0" err="1"/>
              <a:t>bu</a:t>
            </a:r>
            <a:r>
              <a:rPr lang="en-GB" sz="1500" dirty="0"/>
              <a:t> </a:t>
            </a:r>
            <a:r>
              <a:rPr lang="en-GB" sz="1500" dirty="0" err="1"/>
              <a:t>olasılıkları</a:t>
            </a:r>
            <a:r>
              <a:rPr lang="en-GB" sz="1500" dirty="0"/>
              <a:t> </a:t>
            </a:r>
            <a:r>
              <a:rPr lang="en-GB" sz="1500" dirty="0" err="1"/>
              <a:t>çarpar</a:t>
            </a:r>
            <a:r>
              <a:rPr lang="en-GB" sz="1500" dirty="0"/>
              <a:t>. En </a:t>
            </a:r>
            <a:r>
              <a:rPr lang="en-GB" sz="1500" dirty="0" err="1"/>
              <a:t>yüksek</a:t>
            </a:r>
            <a:r>
              <a:rPr lang="en-GB" sz="1500" dirty="0"/>
              <a:t> </a:t>
            </a:r>
            <a:r>
              <a:rPr lang="en-GB" sz="1500" dirty="0" err="1"/>
              <a:t>olasılığa</a:t>
            </a:r>
            <a:r>
              <a:rPr lang="en-GB" sz="1500" dirty="0"/>
              <a:t> </a:t>
            </a:r>
            <a:r>
              <a:rPr lang="en-GB" sz="1500" dirty="0" err="1"/>
              <a:t>sahip</a:t>
            </a:r>
            <a:r>
              <a:rPr lang="en-GB" sz="1500" dirty="0"/>
              <a:t> </a:t>
            </a:r>
            <a:r>
              <a:rPr lang="en-GB" sz="1500" dirty="0" err="1"/>
              <a:t>kategoriyi</a:t>
            </a:r>
            <a:r>
              <a:rPr lang="en-GB" sz="1500" dirty="0"/>
              <a:t> </a:t>
            </a:r>
            <a:r>
              <a:rPr lang="en-GB" sz="1500" dirty="0" err="1"/>
              <a:t>nihai</a:t>
            </a:r>
            <a:r>
              <a:rPr lang="en-GB" sz="1500" dirty="0"/>
              <a:t> </a:t>
            </a:r>
            <a:r>
              <a:rPr lang="en-GB" sz="1500" dirty="0" err="1"/>
              <a:t>sonuç</a:t>
            </a:r>
            <a:r>
              <a:rPr lang="en-GB" sz="1500" dirty="0"/>
              <a:t> </a:t>
            </a:r>
            <a:r>
              <a:rPr lang="en-GB" sz="1500" dirty="0" err="1"/>
              <a:t>olarak</a:t>
            </a:r>
            <a:r>
              <a:rPr lang="en-GB" sz="1500" dirty="0"/>
              <a:t> </a:t>
            </a:r>
            <a:r>
              <a:rPr lang="en-GB" sz="1500" dirty="0" err="1"/>
              <a:t>belirler</a:t>
            </a:r>
            <a:r>
              <a:rPr lang="en-GB" sz="1500" dirty="0"/>
              <a:t>. Bu </a:t>
            </a:r>
            <a:r>
              <a:rPr lang="en-GB" sz="1500" dirty="0" err="1"/>
              <a:t>işlem</a:t>
            </a:r>
            <a:r>
              <a:rPr lang="en-GB" sz="1500" dirty="0"/>
              <a:t>, Bayes </a:t>
            </a:r>
            <a:r>
              <a:rPr lang="en-GB" sz="1500" dirty="0" err="1"/>
              <a:t>Teoremi'ne</a:t>
            </a:r>
            <a:r>
              <a:rPr lang="en-GB" sz="1500" dirty="0"/>
              <a:t> </a:t>
            </a:r>
            <a:r>
              <a:rPr lang="en-GB" sz="1500" dirty="0" err="1"/>
              <a:t>dayanır</a:t>
            </a:r>
            <a:r>
              <a:rPr lang="en-GB" sz="1500" dirty="0"/>
              <a:t>.</a:t>
            </a:r>
          </a:p>
          <a:p>
            <a:endParaRPr lang="en-GB" sz="1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D4A743-7243-CBD7-E30D-FA10FB70B683}"/>
              </a:ext>
            </a:extLst>
          </p:cNvPr>
          <p:cNvSpPr txBox="1"/>
          <p:nvPr/>
        </p:nvSpPr>
        <p:spPr>
          <a:xfrm>
            <a:off x="0" y="1933851"/>
            <a:ext cx="12192000" cy="18466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000" b="1" dirty="0"/>
              <a:t>2. Random Forest (</a:t>
            </a:r>
            <a:r>
              <a:rPr lang="en-GB" sz="2000" b="1" dirty="0" err="1"/>
              <a:t>Rastgele</a:t>
            </a:r>
            <a:r>
              <a:rPr lang="en-GB" sz="2000" b="1" dirty="0"/>
              <a:t> Orman)</a:t>
            </a:r>
          </a:p>
          <a:p>
            <a:r>
              <a:rPr lang="en-GB" sz="1500" b="1" dirty="0" err="1"/>
              <a:t>Nasıl</a:t>
            </a:r>
            <a:r>
              <a:rPr lang="en-GB" sz="1500" b="1" dirty="0"/>
              <a:t>, </a:t>
            </a:r>
            <a:r>
              <a:rPr lang="en-GB" sz="1500" b="1" dirty="0" err="1"/>
              <a:t>Nerede</a:t>
            </a:r>
            <a:r>
              <a:rPr lang="en-GB" sz="1500" b="1" dirty="0"/>
              <a:t>, Ne Zaman, Ne </a:t>
            </a:r>
            <a:r>
              <a:rPr lang="en-GB" sz="1500" b="1" dirty="0" err="1"/>
              <a:t>Amaçla</a:t>
            </a:r>
            <a:r>
              <a:rPr lang="en-GB" sz="1500" b="1" dirty="0"/>
              <a:t> </a:t>
            </a:r>
            <a:r>
              <a:rPr lang="en-GB" sz="1500" b="1" dirty="0" err="1"/>
              <a:t>Ortaya</a:t>
            </a:r>
            <a:r>
              <a:rPr lang="en-GB" sz="1500" b="1" dirty="0"/>
              <a:t> </a:t>
            </a:r>
            <a:r>
              <a:rPr lang="en-GB" sz="1500" b="1" dirty="0" err="1"/>
              <a:t>Çıktı</a:t>
            </a:r>
            <a:r>
              <a:rPr lang="en-GB" sz="1500" b="1" dirty="0"/>
              <a:t>?</a:t>
            </a:r>
            <a:r>
              <a:rPr lang="en-GB" sz="1500" dirty="0"/>
              <a:t> Leo </a:t>
            </a:r>
            <a:r>
              <a:rPr lang="en-GB" sz="1500" dirty="0" err="1"/>
              <a:t>Breiman</a:t>
            </a:r>
            <a:r>
              <a:rPr lang="en-GB" sz="1500" dirty="0"/>
              <a:t> </a:t>
            </a:r>
            <a:r>
              <a:rPr lang="en-GB" sz="1500" dirty="0" err="1"/>
              <a:t>tarafından</a:t>
            </a:r>
            <a:r>
              <a:rPr lang="en-GB" sz="1500" dirty="0"/>
              <a:t> 2001'de </a:t>
            </a:r>
            <a:r>
              <a:rPr lang="en-GB" sz="1500" dirty="0" err="1"/>
              <a:t>ortaya</a:t>
            </a:r>
            <a:r>
              <a:rPr lang="en-GB" sz="1500" dirty="0"/>
              <a:t> </a:t>
            </a:r>
            <a:r>
              <a:rPr lang="en-GB" sz="1500" dirty="0" err="1"/>
              <a:t>konan</a:t>
            </a:r>
            <a:r>
              <a:rPr lang="en-GB" sz="1500" dirty="0"/>
              <a:t> Random Forest, </a:t>
            </a:r>
            <a:r>
              <a:rPr lang="en-GB" sz="1500" dirty="0" err="1"/>
              <a:t>tek</a:t>
            </a:r>
            <a:r>
              <a:rPr lang="en-GB" sz="1500" dirty="0"/>
              <a:t> </a:t>
            </a:r>
            <a:r>
              <a:rPr lang="en-GB" sz="1500" dirty="0" err="1"/>
              <a:t>bir</a:t>
            </a:r>
            <a:r>
              <a:rPr lang="en-GB" sz="1500" dirty="0"/>
              <a:t> </a:t>
            </a:r>
            <a:r>
              <a:rPr lang="en-GB" sz="1500" dirty="0" err="1"/>
              <a:t>karar</a:t>
            </a:r>
            <a:r>
              <a:rPr lang="en-GB" sz="1500" dirty="0"/>
              <a:t> </a:t>
            </a:r>
            <a:r>
              <a:rPr lang="en-GB" sz="1500" dirty="0" err="1"/>
              <a:t>ağacının</a:t>
            </a:r>
            <a:r>
              <a:rPr lang="en-GB" sz="1500" dirty="0"/>
              <a:t> </a:t>
            </a:r>
            <a:r>
              <a:rPr lang="en-GB" sz="1500" dirty="0" err="1"/>
              <a:t>zayıflıklarını</a:t>
            </a:r>
            <a:r>
              <a:rPr lang="en-GB" sz="1500" dirty="0"/>
              <a:t> </a:t>
            </a:r>
            <a:r>
              <a:rPr lang="en-GB" sz="1500" dirty="0" err="1"/>
              <a:t>gidermek</a:t>
            </a:r>
            <a:r>
              <a:rPr lang="en-GB" sz="1500" dirty="0"/>
              <a:t> </a:t>
            </a:r>
            <a:r>
              <a:rPr lang="en-GB" sz="1500" dirty="0" err="1"/>
              <a:t>amacıyla</a:t>
            </a:r>
            <a:r>
              <a:rPr lang="en-GB" sz="1500" dirty="0"/>
              <a:t> </a:t>
            </a:r>
            <a:r>
              <a:rPr lang="en-GB" sz="1500" dirty="0" err="1"/>
              <a:t>geliştirilmiştir</a:t>
            </a:r>
            <a:r>
              <a:rPr lang="en-GB" sz="1500" dirty="0"/>
              <a:t>. </a:t>
            </a:r>
            <a:r>
              <a:rPr lang="en-GB" sz="1500" dirty="0" err="1"/>
              <a:t>Çoklu</a:t>
            </a:r>
            <a:r>
              <a:rPr lang="en-GB" sz="1500" dirty="0"/>
              <a:t> </a:t>
            </a:r>
            <a:r>
              <a:rPr lang="en-GB" sz="1500" dirty="0" err="1"/>
              <a:t>karar</a:t>
            </a:r>
            <a:r>
              <a:rPr lang="en-GB" sz="1500" dirty="0"/>
              <a:t> </a:t>
            </a:r>
            <a:r>
              <a:rPr lang="en-GB" sz="1500" dirty="0" err="1"/>
              <a:t>ağaçlarını</a:t>
            </a:r>
            <a:r>
              <a:rPr lang="en-GB" sz="1500" dirty="0"/>
              <a:t> </a:t>
            </a:r>
            <a:r>
              <a:rPr lang="en-GB" sz="1500" dirty="0" err="1"/>
              <a:t>bir</a:t>
            </a:r>
            <a:r>
              <a:rPr lang="en-GB" sz="1500" dirty="0"/>
              <a:t> </a:t>
            </a:r>
            <a:r>
              <a:rPr lang="en-GB" sz="1500" dirty="0" err="1"/>
              <a:t>araya</a:t>
            </a:r>
            <a:r>
              <a:rPr lang="en-GB" sz="1500" dirty="0"/>
              <a:t> </a:t>
            </a:r>
            <a:r>
              <a:rPr lang="en-GB" sz="1500" dirty="0" err="1"/>
              <a:t>getirerek</a:t>
            </a:r>
            <a:r>
              <a:rPr lang="en-GB" sz="1500" dirty="0"/>
              <a:t> (ensemble learning), </a:t>
            </a:r>
            <a:r>
              <a:rPr lang="en-GB" sz="1500" dirty="0" err="1"/>
              <a:t>daha</a:t>
            </a:r>
            <a:r>
              <a:rPr lang="en-GB" sz="1500" dirty="0"/>
              <a:t> </a:t>
            </a:r>
            <a:r>
              <a:rPr lang="en-GB" sz="1500" dirty="0" err="1"/>
              <a:t>doğru</a:t>
            </a:r>
            <a:r>
              <a:rPr lang="en-GB" sz="1500" dirty="0"/>
              <a:t> </a:t>
            </a:r>
            <a:r>
              <a:rPr lang="en-GB" sz="1500" dirty="0" err="1"/>
              <a:t>ve</a:t>
            </a:r>
            <a:r>
              <a:rPr lang="en-GB" sz="1500" dirty="0"/>
              <a:t> </a:t>
            </a:r>
            <a:r>
              <a:rPr lang="en-GB" sz="1500" dirty="0" err="1"/>
              <a:t>sağlam</a:t>
            </a:r>
            <a:r>
              <a:rPr lang="en-GB" sz="1500" dirty="0"/>
              <a:t> </a:t>
            </a:r>
            <a:r>
              <a:rPr lang="en-GB" sz="1500" dirty="0" err="1"/>
              <a:t>tahminler</a:t>
            </a:r>
            <a:r>
              <a:rPr lang="en-GB" sz="1500" dirty="0"/>
              <a:t> </a:t>
            </a:r>
            <a:r>
              <a:rPr lang="en-GB" sz="1500" dirty="0" err="1"/>
              <a:t>yapmayı</a:t>
            </a:r>
            <a:r>
              <a:rPr lang="en-GB" sz="1500" dirty="0"/>
              <a:t> </a:t>
            </a:r>
            <a:r>
              <a:rPr lang="en-GB" sz="1500" dirty="0" err="1"/>
              <a:t>hedefler</a:t>
            </a:r>
            <a:r>
              <a:rPr lang="en-GB" sz="1500" dirty="0"/>
              <a:t>.</a:t>
            </a:r>
          </a:p>
          <a:p>
            <a:r>
              <a:rPr lang="en-GB" sz="1500" b="1" dirty="0"/>
              <a:t>Hangi </a:t>
            </a:r>
            <a:r>
              <a:rPr lang="en-GB" sz="1500" b="1" dirty="0" err="1"/>
              <a:t>Verilerle</a:t>
            </a:r>
            <a:r>
              <a:rPr lang="en-GB" sz="1500" b="1" dirty="0"/>
              <a:t> </a:t>
            </a:r>
            <a:r>
              <a:rPr lang="en-GB" sz="1500" b="1" dirty="0" err="1"/>
              <a:t>Başarılı</a:t>
            </a:r>
            <a:r>
              <a:rPr lang="en-GB" sz="1500" b="1" dirty="0"/>
              <a:t>?</a:t>
            </a:r>
            <a:r>
              <a:rPr lang="en-GB" sz="1500" dirty="0"/>
              <a:t> Hem </a:t>
            </a:r>
            <a:r>
              <a:rPr lang="en-GB" sz="1500" b="1" dirty="0" err="1"/>
              <a:t>kategorik</a:t>
            </a:r>
            <a:r>
              <a:rPr lang="en-GB" sz="1500" b="1" dirty="0"/>
              <a:t> hem de </a:t>
            </a:r>
            <a:r>
              <a:rPr lang="en-GB" sz="1500" b="1" dirty="0" err="1"/>
              <a:t>sayısal</a:t>
            </a:r>
            <a:r>
              <a:rPr lang="en-GB" sz="1500" b="1" dirty="0"/>
              <a:t> </a:t>
            </a:r>
            <a:r>
              <a:rPr lang="en-GB" sz="1500" b="1" dirty="0" err="1"/>
              <a:t>verilere</a:t>
            </a:r>
            <a:r>
              <a:rPr lang="en-GB" sz="1500" dirty="0"/>
              <a:t> </a:t>
            </a:r>
            <a:r>
              <a:rPr lang="en-GB" sz="1500" dirty="0" err="1"/>
              <a:t>sahip</a:t>
            </a:r>
            <a:r>
              <a:rPr lang="en-GB" sz="1500" dirty="0"/>
              <a:t> </a:t>
            </a:r>
            <a:r>
              <a:rPr lang="en-GB" sz="1500" dirty="0" err="1"/>
              <a:t>problemlerde</a:t>
            </a:r>
            <a:r>
              <a:rPr lang="en-GB" sz="1500" dirty="0"/>
              <a:t> </a:t>
            </a:r>
            <a:r>
              <a:rPr lang="en-GB" sz="1500" dirty="0" err="1"/>
              <a:t>oldukça</a:t>
            </a:r>
            <a:r>
              <a:rPr lang="en-GB" sz="1500" dirty="0"/>
              <a:t> </a:t>
            </a:r>
            <a:r>
              <a:rPr lang="en-GB" sz="1500" dirty="0" err="1"/>
              <a:t>etkilidir</a:t>
            </a:r>
            <a:r>
              <a:rPr lang="en-GB" sz="1500" dirty="0"/>
              <a:t>. </a:t>
            </a:r>
            <a:r>
              <a:rPr lang="en-GB" sz="1500" dirty="0" err="1"/>
              <a:t>Çok</a:t>
            </a:r>
            <a:r>
              <a:rPr lang="en-GB" sz="1500" dirty="0"/>
              <a:t> </a:t>
            </a:r>
            <a:r>
              <a:rPr lang="en-GB" sz="1500" dirty="0" err="1"/>
              <a:t>sayıda</a:t>
            </a:r>
            <a:r>
              <a:rPr lang="en-GB" sz="1500" dirty="0"/>
              <a:t> </a:t>
            </a:r>
            <a:r>
              <a:rPr lang="en-GB" sz="1500" dirty="0" err="1"/>
              <a:t>özelliğin</a:t>
            </a:r>
            <a:r>
              <a:rPr lang="en-GB" sz="1500" dirty="0"/>
              <a:t> </a:t>
            </a:r>
            <a:r>
              <a:rPr lang="en-GB" sz="1500" dirty="0" err="1"/>
              <a:t>olduğu</a:t>
            </a:r>
            <a:r>
              <a:rPr lang="en-GB" sz="1500" dirty="0"/>
              <a:t>, </a:t>
            </a:r>
            <a:r>
              <a:rPr lang="en-GB" sz="1500" dirty="0" err="1"/>
              <a:t>karmaşık</a:t>
            </a:r>
            <a:r>
              <a:rPr lang="en-GB" sz="1500" dirty="0"/>
              <a:t> </a:t>
            </a:r>
            <a:r>
              <a:rPr lang="en-GB" sz="1500" dirty="0" err="1"/>
              <a:t>ve</a:t>
            </a:r>
            <a:r>
              <a:rPr lang="en-GB" sz="1500" dirty="0"/>
              <a:t> </a:t>
            </a:r>
            <a:r>
              <a:rPr lang="en-GB" sz="1500" dirty="0" err="1"/>
              <a:t>doğrusal</a:t>
            </a:r>
            <a:r>
              <a:rPr lang="en-GB" sz="1500" dirty="0"/>
              <a:t> </a:t>
            </a:r>
            <a:r>
              <a:rPr lang="en-GB" sz="1500" dirty="0" err="1"/>
              <a:t>olmayan</a:t>
            </a:r>
            <a:r>
              <a:rPr lang="en-GB" sz="1500" dirty="0"/>
              <a:t> </a:t>
            </a:r>
            <a:r>
              <a:rPr lang="en-GB" sz="1500" dirty="0" err="1"/>
              <a:t>ilişkilerin</a:t>
            </a:r>
            <a:r>
              <a:rPr lang="en-GB" sz="1500" dirty="0"/>
              <a:t> </a:t>
            </a:r>
            <a:r>
              <a:rPr lang="en-GB" sz="1500" dirty="0" err="1"/>
              <a:t>bulunduğu</a:t>
            </a:r>
            <a:r>
              <a:rPr lang="en-GB" sz="1500" dirty="0"/>
              <a:t> </a:t>
            </a:r>
            <a:r>
              <a:rPr lang="en-GB" sz="1500" dirty="0" err="1"/>
              <a:t>veri</a:t>
            </a:r>
            <a:r>
              <a:rPr lang="en-GB" sz="1500" dirty="0"/>
              <a:t> </a:t>
            </a:r>
            <a:r>
              <a:rPr lang="en-GB" sz="1500" dirty="0" err="1"/>
              <a:t>setleriyle</a:t>
            </a:r>
            <a:r>
              <a:rPr lang="en-GB" sz="1500" dirty="0"/>
              <a:t> iyi </a:t>
            </a:r>
            <a:r>
              <a:rPr lang="en-GB" sz="1500" dirty="0" err="1"/>
              <a:t>çalışır</a:t>
            </a:r>
            <a:r>
              <a:rPr lang="en-GB" sz="1500" dirty="0"/>
              <a:t>.</a:t>
            </a:r>
          </a:p>
          <a:p>
            <a:r>
              <a:rPr lang="en-GB" sz="1500" b="1" dirty="0" err="1"/>
              <a:t>Çalışma</a:t>
            </a:r>
            <a:r>
              <a:rPr lang="en-GB" sz="1500" b="1" dirty="0"/>
              <a:t> </a:t>
            </a:r>
            <a:r>
              <a:rPr lang="en-GB" sz="1500" b="1" dirty="0" err="1"/>
              <a:t>Prensibi</a:t>
            </a:r>
            <a:r>
              <a:rPr lang="en-GB" sz="1500" b="1" dirty="0"/>
              <a:t>:</a:t>
            </a:r>
            <a:r>
              <a:rPr lang="en-GB" sz="1500" dirty="0"/>
              <a:t> </a:t>
            </a:r>
            <a:r>
              <a:rPr lang="en-GB" sz="1500" dirty="0" err="1"/>
              <a:t>Rastgele</a:t>
            </a:r>
            <a:r>
              <a:rPr lang="en-GB" sz="1500" dirty="0"/>
              <a:t> alt </a:t>
            </a:r>
            <a:r>
              <a:rPr lang="en-GB" sz="1500" dirty="0" err="1"/>
              <a:t>örneklerden</a:t>
            </a:r>
            <a:r>
              <a:rPr lang="en-GB" sz="1500" dirty="0"/>
              <a:t> </a:t>
            </a:r>
            <a:r>
              <a:rPr lang="en-GB" sz="1500" dirty="0" err="1"/>
              <a:t>oluşan</a:t>
            </a:r>
            <a:r>
              <a:rPr lang="en-GB" sz="1500" dirty="0"/>
              <a:t> </a:t>
            </a:r>
            <a:r>
              <a:rPr lang="en-GB" sz="1500" dirty="0" err="1"/>
              <a:t>ve</a:t>
            </a:r>
            <a:r>
              <a:rPr lang="en-GB" sz="1500" dirty="0"/>
              <a:t> </a:t>
            </a:r>
            <a:r>
              <a:rPr lang="en-GB" sz="1500" dirty="0" err="1"/>
              <a:t>rastgele</a:t>
            </a:r>
            <a:r>
              <a:rPr lang="en-GB" sz="1500" dirty="0"/>
              <a:t> </a:t>
            </a:r>
            <a:r>
              <a:rPr lang="en-GB" sz="1500" dirty="0" err="1"/>
              <a:t>seçilmiş</a:t>
            </a:r>
            <a:r>
              <a:rPr lang="en-GB" sz="1500" dirty="0"/>
              <a:t> </a:t>
            </a:r>
            <a:r>
              <a:rPr lang="en-GB" sz="1500" dirty="0" err="1"/>
              <a:t>özelliklerle</a:t>
            </a:r>
            <a:r>
              <a:rPr lang="en-GB" sz="1500" dirty="0"/>
              <a:t> </a:t>
            </a:r>
            <a:r>
              <a:rPr lang="en-GB" sz="1500" dirty="0" err="1"/>
              <a:t>eğitilen</a:t>
            </a:r>
            <a:r>
              <a:rPr lang="en-GB" sz="1500" dirty="0"/>
              <a:t> </a:t>
            </a:r>
            <a:r>
              <a:rPr lang="en-GB" sz="1500" dirty="0" err="1"/>
              <a:t>birçok</a:t>
            </a:r>
            <a:r>
              <a:rPr lang="en-GB" sz="1500" dirty="0"/>
              <a:t> </a:t>
            </a:r>
            <a:r>
              <a:rPr lang="en-GB" sz="1500" dirty="0" err="1"/>
              <a:t>karar</a:t>
            </a:r>
            <a:r>
              <a:rPr lang="en-GB" sz="1500" dirty="0"/>
              <a:t> </a:t>
            </a:r>
            <a:r>
              <a:rPr lang="en-GB" sz="1500" dirty="0" err="1"/>
              <a:t>ağacı</a:t>
            </a:r>
            <a:r>
              <a:rPr lang="en-GB" sz="1500" dirty="0"/>
              <a:t> </a:t>
            </a:r>
            <a:r>
              <a:rPr lang="en-GB" sz="1500" dirty="0" err="1"/>
              <a:t>oluşturur</a:t>
            </a:r>
            <a:r>
              <a:rPr lang="en-GB" sz="1500" dirty="0"/>
              <a:t>. Her </a:t>
            </a:r>
            <a:r>
              <a:rPr lang="en-GB" sz="1500" dirty="0" err="1"/>
              <a:t>bir</a:t>
            </a:r>
            <a:r>
              <a:rPr lang="en-GB" sz="1500" dirty="0"/>
              <a:t> </a:t>
            </a:r>
            <a:r>
              <a:rPr lang="en-GB" sz="1500" dirty="0" err="1"/>
              <a:t>ağaç</a:t>
            </a:r>
            <a:r>
              <a:rPr lang="en-GB" sz="1500" dirty="0"/>
              <a:t> </a:t>
            </a:r>
            <a:r>
              <a:rPr lang="en-GB" sz="1500" dirty="0" err="1"/>
              <a:t>kendi</a:t>
            </a:r>
            <a:r>
              <a:rPr lang="en-GB" sz="1500" dirty="0"/>
              <a:t> </a:t>
            </a:r>
            <a:r>
              <a:rPr lang="en-GB" sz="1500" dirty="0" err="1"/>
              <a:t>tahminini</a:t>
            </a:r>
            <a:r>
              <a:rPr lang="en-GB" sz="1500" dirty="0"/>
              <a:t> </a:t>
            </a:r>
            <a:r>
              <a:rPr lang="en-GB" sz="1500" dirty="0" err="1"/>
              <a:t>yapar</a:t>
            </a:r>
            <a:r>
              <a:rPr lang="en-GB" sz="1500" dirty="0"/>
              <a:t> </a:t>
            </a:r>
            <a:r>
              <a:rPr lang="en-GB" sz="1500" dirty="0" err="1"/>
              <a:t>ve</a:t>
            </a:r>
            <a:r>
              <a:rPr lang="en-GB" sz="1500" dirty="0"/>
              <a:t> </a:t>
            </a:r>
            <a:r>
              <a:rPr lang="en-GB" sz="1500" dirty="0" err="1"/>
              <a:t>nihai</a:t>
            </a:r>
            <a:r>
              <a:rPr lang="en-GB" sz="1500" dirty="0"/>
              <a:t> </a:t>
            </a:r>
            <a:r>
              <a:rPr lang="en-GB" sz="1500" dirty="0" err="1"/>
              <a:t>karar</a:t>
            </a:r>
            <a:r>
              <a:rPr lang="en-GB" sz="1500" dirty="0"/>
              <a:t>, </a:t>
            </a:r>
            <a:r>
              <a:rPr lang="en-GB" sz="1500" dirty="0" err="1"/>
              <a:t>ağaçların</a:t>
            </a:r>
            <a:r>
              <a:rPr lang="en-GB" sz="1500" dirty="0"/>
              <a:t> </a:t>
            </a:r>
            <a:r>
              <a:rPr lang="en-GB" sz="1500" dirty="0" err="1"/>
              <a:t>çoğunluk</a:t>
            </a:r>
            <a:r>
              <a:rPr lang="en-GB" sz="1500" dirty="0"/>
              <a:t> </a:t>
            </a:r>
            <a:r>
              <a:rPr lang="en-GB" sz="1500" dirty="0" err="1"/>
              <a:t>oylamasıyla</a:t>
            </a:r>
            <a:r>
              <a:rPr lang="en-GB" sz="1500" dirty="0"/>
              <a:t> </a:t>
            </a:r>
            <a:r>
              <a:rPr lang="en-GB" sz="1500" dirty="0" err="1"/>
              <a:t>belirlenir</a:t>
            </a:r>
            <a:r>
              <a:rPr lang="en-GB" sz="15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F181B0-8866-7CD1-B631-8DA034CBAEDD}"/>
              </a:ext>
            </a:extLst>
          </p:cNvPr>
          <p:cNvSpPr txBox="1"/>
          <p:nvPr/>
        </p:nvSpPr>
        <p:spPr>
          <a:xfrm>
            <a:off x="0" y="3642011"/>
            <a:ext cx="12192000" cy="17158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000" b="1" dirty="0"/>
              <a:t>3. Support Vector Machine (SVM)</a:t>
            </a:r>
          </a:p>
          <a:p>
            <a:r>
              <a:rPr lang="en-GB" sz="1250" b="1" dirty="0" err="1"/>
              <a:t>Nasıl</a:t>
            </a:r>
            <a:r>
              <a:rPr lang="en-GB" sz="1250" b="1" dirty="0"/>
              <a:t>, </a:t>
            </a:r>
            <a:r>
              <a:rPr lang="en-GB" sz="1250" b="1" dirty="0" err="1"/>
              <a:t>Nerede</a:t>
            </a:r>
            <a:r>
              <a:rPr lang="en-GB" sz="1250" b="1" dirty="0"/>
              <a:t>, Ne Zaman, Ne </a:t>
            </a:r>
            <a:r>
              <a:rPr lang="en-GB" sz="1250" b="1" dirty="0" err="1"/>
              <a:t>Amaçla</a:t>
            </a:r>
            <a:r>
              <a:rPr lang="en-GB" sz="1250" b="1" dirty="0"/>
              <a:t> </a:t>
            </a:r>
            <a:r>
              <a:rPr lang="en-GB" sz="1250" b="1" dirty="0" err="1"/>
              <a:t>Ortaya</a:t>
            </a:r>
            <a:r>
              <a:rPr lang="en-GB" sz="1250" b="1" dirty="0"/>
              <a:t> </a:t>
            </a:r>
            <a:r>
              <a:rPr lang="en-GB" sz="1250" b="1" dirty="0" err="1"/>
              <a:t>Çıktı</a:t>
            </a:r>
            <a:r>
              <a:rPr lang="en-GB" sz="1250" b="1" dirty="0"/>
              <a:t>?</a:t>
            </a:r>
            <a:r>
              <a:rPr lang="en-GB" sz="1250" dirty="0"/>
              <a:t> </a:t>
            </a:r>
            <a:r>
              <a:rPr lang="en-GB" sz="1200" dirty="0" err="1"/>
              <a:t>Vapnik</a:t>
            </a:r>
            <a:r>
              <a:rPr lang="en-GB" sz="1200" dirty="0"/>
              <a:t> </a:t>
            </a:r>
            <a:r>
              <a:rPr lang="en-GB" sz="1200" dirty="0" err="1"/>
              <a:t>tarafından</a:t>
            </a:r>
            <a:r>
              <a:rPr lang="en-GB" sz="1200" dirty="0"/>
              <a:t> 1990'larda </a:t>
            </a:r>
            <a:r>
              <a:rPr lang="en-GB" sz="1200" dirty="0" err="1"/>
              <a:t>geliştirilen</a:t>
            </a:r>
            <a:r>
              <a:rPr lang="en-GB" sz="1200" dirty="0"/>
              <a:t> SVM, </a:t>
            </a:r>
            <a:r>
              <a:rPr lang="en-GB" sz="1200" dirty="0" err="1"/>
              <a:t>verileri</a:t>
            </a:r>
            <a:r>
              <a:rPr lang="en-GB" sz="1200" dirty="0"/>
              <a:t> </a:t>
            </a:r>
            <a:r>
              <a:rPr lang="en-GB" sz="1200" dirty="0" err="1"/>
              <a:t>iki</a:t>
            </a:r>
            <a:r>
              <a:rPr lang="en-GB" sz="1200" dirty="0"/>
              <a:t> </a:t>
            </a:r>
            <a:r>
              <a:rPr lang="en-GB" sz="1200" dirty="0" err="1"/>
              <a:t>kategoriye</a:t>
            </a:r>
            <a:r>
              <a:rPr lang="en-GB" sz="1200" dirty="0"/>
              <a:t> </a:t>
            </a:r>
            <a:r>
              <a:rPr lang="en-GB" sz="1200" dirty="0" err="1"/>
              <a:t>ayırmak</a:t>
            </a:r>
            <a:r>
              <a:rPr lang="en-GB" sz="1200" dirty="0"/>
              <a:t> </a:t>
            </a:r>
            <a:r>
              <a:rPr lang="en-GB" sz="1200" dirty="0" err="1"/>
              <a:t>için</a:t>
            </a:r>
            <a:r>
              <a:rPr lang="en-GB" sz="1200" dirty="0"/>
              <a:t> </a:t>
            </a:r>
            <a:r>
              <a:rPr lang="en-GB" sz="1200" dirty="0" err="1"/>
              <a:t>en</a:t>
            </a:r>
            <a:r>
              <a:rPr lang="en-GB" sz="1200" dirty="0"/>
              <a:t> iyi "</a:t>
            </a:r>
            <a:r>
              <a:rPr lang="en-GB" sz="1200" dirty="0" err="1"/>
              <a:t>sınırı</a:t>
            </a:r>
            <a:r>
              <a:rPr lang="en-GB" sz="1200" dirty="0"/>
              <a:t>" (</a:t>
            </a:r>
            <a:r>
              <a:rPr lang="en-GB" sz="1200" dirty="0" err="1"/>
              <a:t>hiper-düzlem</a:t>
            </a:r>
            <a:r>
              <a:rPr lang="en-GB" sz="1200" dirty="0"/>
              <a:t>) </a:t>
            </a:r>
            <a:r>
              <a:rPr lang="en-GB" sz="1200" dirty="0" err="1"/>
              <a:t>bulmayı</a:t>
            </a:r>
            <a:r>
              <a:rPr lang="en-GB" sz="1200" dirty="0"/>
              <a:t> </a:t>
            </a:r>
            <a:r>
              <a:rPr lang="en-GB" sz="1200" dirty="0" err="1"/>
              <a:t>amaçlayan</a:t>
            </a:r>
            <a:r>
              <a:rPr lang="en-GB" sz="1200" dirty="0"/>
              <a:t> </a:t>
            </a:r>
            <a:r>
              <a:rPr lang="en-GB" sz="1200" dirty="0" err="1"/>
              <a:t>güçlü</a:t>
            </a:r>
            <a:r>
              <a:rPr lang="en-GB" sz="1200" dirty="0"/>
              <a:t> </a:t>
            </a:r>
            <a:r>
              <a:rPr lang="en-GB" sz="1200" dirty="0" err="1"/>
              <a:t>bir</a:t>
            </a:r>
            <a:r>
              <a:rPr lang="en-GB" sz="1200" dirty="0"/>
              <a:t> </a:t>
            </a:r>
            <a:r>
              <a:rPr lang="en-GB" sz="1200" dirty="0" err="1"/>
              <a:t>sınıflandırma</a:t>
            </a:r>
            <a:r>
              <a:rPr lang="en-GB" sz="1200" dirty="0"/>
              <a:t> </a:t>
            </a:r>
            <a:r>
              <a:rPr lang="en-GB" sz="1200" dirty="0" err="1"/>
              <a:t>algoritmasıdır</a:t>
            </a:r>
            <a:r>
              <a:rPr lang="en-GB" sz="1200" dirty="0"/>
              <a:t>. </a:t>
            </a:r>
            <a:r>
              <a:rPr lang="en-GB" sz="1200" dirty="0" err="1"/>
              <a:t>Başlangıçta</a:t>
            </a:r>
            <a:r>
              <a:rPr lang="en-GB" sz="1200" dirty="0"/>
              <a:t> </a:t>
            </a:r>
            <a:r>
              <a:rPr lang="en-GB" sz="1200" dirty="0" err="1"/>
              <a:t>doğrusal</a:t>
            </a:r>
            <a:r>
              <a:rPr lang="en-GB" sz="1200" dirty="0"/>
              <a:t> </a:t>
            </a:r>
            <a:r>
              <a:rPr lang="en-GB" sz="1200" dirty="0" err="1"/>
              <a:t>sınıflandırma</a:t>
            </a:r>
            <a:r>
              <a:rPr lang="en-GB" sz="1200" dirty="0"/>
              <a:t> </a:t>
            </a:r>
            <a:r>
              <a:rPr lang="en-GB" sz="1200" dirty="0" err="1"/>
              <a:t>için</a:t>
            </a:r>
            <a:r>
              <a:rPr lang="en-GB" sz="1200" dirty="0"/>
              <a:t> </a:t>
            </a:r>
            <a:r>
              <a:rPr lang="en-GB" sz="1200" dirty="0" err="1"/>
              <a:t>geliştirilmiş</a:t>
            </a:r>
            <a:r>
              <a:rPr lang="en-GB" sz="1200" dirty="0"/>
              <a:t>, </a:t>
            </a:r>
            <a:r>
              <a:rPr lang="en-GB" sz="1200" dirty="0" err="1"/>
              <a:t>ancak</a:t>
            </a:r>
            <a:r>
              <a:rPr lang="en-GB" sz="1200" dirty="0"/>
              <a:t> </a:t>
            </a:r>
            <a:r>
              <a:rPr lang="en-GB" sz="1200" dirty="0" err="1"/>
              <a:t>daha</a:t>
            </a:r>
            <a:r>
              <a:rPr lang="en-GB" sz="1200" dirty="0"/>
              <a:t> </a:t>
            </a:r>
            <a:r>
              <a:rPr lang="en-GB" sz="1200" dirty="0" err="1"/>
              <a:t>sonra</a:t>
            </a:r>
            <a:r>
              <a:rPr lang="en-GB" sz="1200" dirty="0"/>
              <a:t> </a:t>
            </a:r>
            <a:r>
              <a:rPr lang="en-GB" sz="1200" dirty="0" err="1"/>
              <a:t>çekirdek</a:t>
            </a:r>
            <a:r>
              <a:rPr lang="en-GB" sz="1200" dirty="0"/>
              <a:t> </a:t>
            </a:r>
            <a:r>
              <a:rPr lang="en-GB" sz="1200" dirty="0" err="1"/>
              <a:t>fonksiyonları</a:t>
            </a:r>
            <a:r>
              <a:rPr lang="en-GB" sz="1200" dirty="0"/>
              <a:t> </a:t>
            </a:r>
            <a:r>
              <a:rPr lang="en-GB" sz="1200" dirty="0" err="1"/>
              <a:t>sayesinde</a:t>
            </a:r>
            <a:r>
              <a:rPr lang="en-GB" sz="1200" dirty="0"/>
              <a:t> </a:t>
            </a:r>
            <a:r>
              <a:rPr lang="en-GB" sz="1200" dirty="0" err="1"/>
              <a:t>doğrusal</a:t>
            </a:r>
            <a:r>
              <a:rPr lang="en-GB" sz="1200" dirty="0"/>
              <a:t> </a:t>
            </a:r>
            <a:r>
              <a:rPr lang="en-GB" sz="1200" dirty="0" err="1"/>
              <a:t>olmayan</a:t>
            </a:r>
            <a:r>
              <a:rPr lang="en-GB" sz="1200" dirty="0"/>
              <a:t> </a:t>
            </a:r>
            <a:r>
              <a:rPr lang="en-GB" sz="1200" dirty="0" err="1"/>
              <a:t>verilerle</a:t>
            </a:r>
            <a:r>
              <a:rPr lang="en-GB" sz="1200" dirty="0"/>
              <a:t> de </a:t>
            </a:r>
            <a:r>
              <a:rPr lang="en-GB" sz="1200" dirty="0" err="1"/>
              <a:t>çalışabilir</a:t>
            </a:r>
            <a:r>
              <a:rPr lang="en-GB" sz="1200" dirty="0"/>
              <a:t> hale </a:t>
            </a:r>
            <a:r>
              <a:rPr lang="en-GB" sz="1200" dirty="0" err="1"/>
              <a:t>gelmiştir</a:t>
            </a:r>
            <a:r>
              <a:rPr lang="en-GB" sz="1200" dirty="0"/>
              <a:t>.</a:t>
            </a:r>
          </a:p>
          <a:p>
            <a:r>
              <a:rPr lang="en-GB" sz="1400" b="1" dirty="0"/>
              <a:t>Hangi </a:t>
            </a:r>
            <a:r>
              <a:rPr lang="en-GB" sz="1400" b="1" dirty="0" err="1"/>
              <a:t>Verilerle</a:t>
            </a:r>
            <a:r>
              <a:rPr lang="en-GB" sz="1400" b="1" dirty="0"/>
              <a:t> </a:t>
            </a:r>
            <a:r>
              <a:rPr lang="en-GB" sz="1400" b="1" dirty="0" err="1"/>
              <a:t>Başarılı</a:t>
            </a:r>
            <a:r>
              <a:rPr lang="en-GB" sz="1400" b="1" dirty="0"/>
              <a:t>?</a:t>
            </a:r>
            <a:r>
              <a:rPr lang="en-GB" sz="1400" dirty="0"/>
              <a:t> </a:t>
            </a:r>
            <a:r>
              <a:rPr lang="en-GB" sz="1250" dirty="0"/>
              <a:t>Yüksek </a:t>
            </a:r>
            <a:r>
              <a:rPr lang="en-GB" sz="1250" dirty="0" err="1"/>
              <a:t>boyutlu</a:t>
            </a:r>
            <a:r>
              <a:rPr lang="en-GB" sz="1250" dirty="0"/>
              <a:t> </a:t>
            </a:r>
            <a:r>
              <a:rPr lang="en-GB" sz="1250" dirty="0" err="1"/>
              <a:t>verilerle</a:t>
            </a:r>
            <a:r>
              <a:rPr lang="en-GB" sz="1250" dirty="0"/>
              <a:t> (</a:t>
            </a:r>
            <a:r>
              <a:rPr lang="en-GB" sz="1250" dirty="0" err="1"/>
              <a:t>çok</a:t>
            </a:r>
            <a:r>
              <a:rPr lang="en-GB" sz="1250" dirty="0"/>
              <a:t> </a:t>
            </a:r>
            <a:r>
              <a:rPr lang="en-GB" sz="1250" dirty="0" err="1"/>
              <a:t>sayıda</a:t>
            </a:r>
            <a:r>
              <a:rPr lang="en-GB" sz="1250" dirty="0"/>
              <a:t> </a:t>
            </a:r>
            <a:r>
              <a:rPr lang="en-GB" sz="1250" dirty="0" err="1"/>
              <a:t>özelliğin</a:t>
            </a:r>
            <a:r>
              <a:rPr lang="en-GB" sz="1250" dirty="0"/>
              <a:t> </a:t>
            </a:r>
            <a:r>
              <a:rPr lang="en-GB" sz="1250" dirty="0" err="1"/>
              <a:t>olduğu</a:t>
            </a:r>
            <a:r>
              <a:rPr lang="en-GB" sz="1250" dirty="0"/>
              <a:t> </a:t>
            </a:r>
            <a:r>
              <a:rPr lang="en-GB" sz="1250" dirty="0" err="1"/>
              <a:t>veriler</a:t>
            </a:r>
            <a:r>
              <a:rPr lang="en-GB" sz="1250" dirty="0"/>
              <a:t>) </a:t>
            </a:r>
            <a:r>
              <a:rPr lang="en-GB" sz="1250" dirty="0" err="1"/>
              <a:t>çok</a:t>
            </a:r>
            <a:r>
              <a:rPr lang="en-GB" sz="1250" dirty="0"/>
              <a:t> </a:t>
            </a:r>
            <a:r>
              <a:rPr lang="en-GB" sz="1250" dirty="0" err="1"/>
              <a:t>başarılıdır</a:t>
            </a:r>
            <a:r>
              <a:rPr lang="en-GB" sz="1250" dirty="0"/>
              <a:t>. Metin </a:t>
            </a:r>
            <a:r>
              <a:rPr lang="en-GB" sz="1250" dirty="0" err="1"/>
              <a:t>verileri</a:t>
            </a:r>
            <a:r>
              <a:rPr lang="en-GB" sz="1250" dirty="0"/>
              <a:t> </a:t>
            </a:r>
            <a:r>
              <a:rPr lang="en-GB" sz="1250" dirty="0" err="1"/>
              <a:t>ve</a:t>
            </a:r>
            <a:r>
              <a:rPr lang="en-GB" sz="1250" dirty="0"/>
              <a:t> </a:t>
            </a:r>
            <a:r>
              <a:rPr lang="en-GB" sz="1250" dirty="0" err="1"/>
              <a:t>genetik</a:t>
            </a:r>
            <a:r>
              <a:rPr lang="en-GB" sz="1250" dirty="0"/>
              <a:t> </a:t>
            </a:r>
            <a:r>
              <a:rPr lang="en-GB" sz="1250" dirty="0" err="1"/>
              <a:t>veriler</a:t>
            </a:r>
            <a:r>
              <a:rPr lang="en-GB" sz="1250" dirty="0"/>
              <a:t> </a:t>
            </a:r>
            <a:r>
              <a:rPr lang="en-GB" sz="1250" dirty="0" err="1"/>
              <a:t>gibi</a:t>
            </a:r>
            <a:r>
              <a:rPr lang="en-GB" sz="1250" dirty="0"/>
              <a:t> </a:t>
            </a:r>
            <a:r>
              <a:rPr lang="en-GB" sz="1250" dirty="0" err="1"/>
              <a:t>problemlerde</a:t>
            </a:r>
            <a:r>
              <a:rPr lang="en-GB" sz="1250" dirty="0"/>
              <a:t> </a:t>
            </a:r>
            <a:r>
              <a:rPr lang="en-GB" sz="1250" dirty="0" err="1"/>
              <a:t>yüksek</a:t>
            </a:r>
            <a:r>
              <a:rPr lang="en-GB" sz="1250" dirty="0"/>
              <a:t> </a:t>
            </a:r>
            <a:r>
              <a:rPr lang="en-GB" sz="1250" dirty="0" err="1"/>
              <a:t>performans</a:t>
            </a:r>
            <a:r>
              <a:rPr lang="en-GB" sz="1250" dirty="0"/>
              <a:t> </a:t>
            </a:r>
            <a:r>
              <a:rPr lang="en-GB" sz="1250" dirty="0" err="1"/>
              <a:t>gösterir</a:t>
            </a:r>
            <a:r>
              <a:rPr lang="en-GB" sz="1250" dirty="0"/>
              <a:t>.</a:t>
            </a:r>
          </a:p>
          <a:p>
            <a:r>
              <a:rPr lang="en-GB" sz="1400" b="1" dirty="0" err="1"/>
              <a:t>Çalışma</a:t>
            </a:r>
            <a:r>
              <a:rPr lang="en-GB" sz="1400" b="1" dirty="0"/>
              <a:t> </a:t>
            </a:r>
            <a:r>
              <a:rPr lang="en-GB" sz="1400" b="1" dirty="0" err="1"/>
              <a:t>Prensibi</a:t>
            </a:r>
            <a:r>
              <a:rPr lang="en-GB" sz="1400" b="1" dirty="0"/>
              <a:t>:</a:t>
            </a:r>
            <a:r>
              <a:rPr lang="en-GB" sz="1400" dirty="0"/>
              <a:t> </a:t>
            </a:r>
            <a:r>
              <a:rPr lang="en-GB" sz="1400" dirty="0" err="1"/>
              <a:t>Verileri</a:t>
            </a:r>
            <a:r>
              <a:rPr lang="en-GB" sz="1400" dirty="0"/>
              <a:t> </a:t>
            </a:r>
            <a:r>
              <a:rPr lang="en-GB" sz="1400" dirty="0" err="1"/>
              <a:t>farklı</a:t>
            </a:r>
            <a:r>
              <a:rPr lang="en-GB" sz="1400" dirty="0"/>
              <a:t> </a:t>
            </a:r>
            <a:r>
              <a:rPr lang="en-GB" sz="1400" dirty="0" err="1"/>
              <a:t>sınıflara</a:t>
            </a:r>
            <a:r>
              <a:rPr lang="en-GB" sz="1400" dirty="0"/>
              <a:t> </a:t>
            </a:r>
            <a:r>
              <a:rPr lang="en-GB" sz="1400" dirty="0" err="1"/>
              <a:t>ayıran</a:t>
            </a:r>
            <a:r>
              <a:rPr lang="en-GB" sz="1400" dirty="0"/>
              <a:t> </a:t>
            </a:r>
            <a:r>
              <a:rPr lang="en-GB" sz="1400" dirty="0" err="1"/>
              <a:t>ve</a:t>
            </a:r>
            <a:r>
              <a:rPr lang="en-GB" sz="1400" dirty="0"/>
              <a:t> her </a:t>
            </a:r>
            <a:r>
              <a:rPr lang="en-GB" sz="1400" dirty="0" err="1"/>
              <a:t>iki</a:t>
            </a:r>
            <a:r>
              <a:rPr lang="en-GB" sz="1400" dirty="0"/>
              <a:t> </a:t>
            </a:r>
            <a:r>
              <a:rPr lang="en-GB" sz="1400" dirty="0" err="1"/>
              <a:t>sınıfa</a:t>
            </a:r>
            <a:r>
              <a:rPr lang="en-GB" sz="1400" dirty="0"/>
              <a:t> da </a:t>
            </a:r>
            <a:r>
              <a:rPr lang="en-GB" sz="1400" dirty="0" err="1"/>
              <a:t>en</a:t>
            </a:r>
            <a:r>
              <a:rPr lang="en-GB" sz="1400" dirty="0"/>
              <a:t> </a:t>
            </a:r>
            <a:r>
              <a:rPr lang="en-GB" sz="1400" dirty="0" err="1"/>
              <a:t>uzak</a:t>
            </a:r>
            <a:r>
              <a:rPr lang="en-GB" sz="1400" dirty="0"/>
              <a:t> </a:t>
            </a:r>
            <a:r>
              <a:rPr lang="en-GB" sz="1400" dirty="0" err="1"/>
              <a:t>mesafede</a:t>
            </a:r>
            <a:r>
              <a:rPr lang="en-GB" sz="1400" dirty="0"/>
              <a:t> </a:t>
            </a:r>
            <a:r>
              <a:rPr lang="en-GB" sz="1400" dirty="0" err="1"/>
              <a:t>duran</a:t>
            </a:r>
            <a:r>
              <a:rPr lang="en-GB" sz="1400" dirty="0"/>
              <a:t> </a:t>
            </a:r>
            <a:r>
              <a:rPr lang="en-GB" sz="1400" dirty="0" err="1"/>
              <a:t>bir</a:t>
            </a:r>
            <a:r>
              <a:rPr lang="en-GB" sz="1400" dirty="0"/>
              <a:t> </a:t>
            </a:r>
            <a:r>
              <a:rPr lang="en-GB" sz="1400" dirty="0" err="1"/>
              <a:t>ayırıcı</a:t>
            </a:r>
            <a:r>
              <a:rPr lang="en-GB" sz="1400" dirty="0"/>
              <a:t> </a:t>
            </a:r>
            <a:r>
              <a:rPr lang="en-GB" sz="1400" dirty="0" err="1"/>
              <a:t>çizgi</a:t>
            </a:r>
            <a:r>
              <a:rPr lang="en-GB" sz="1400" dirty="0"/>
              <a:t> (</a:t>
            </a:r>
            <a:r>
              <a:rPr lang="en-GB" sz="1400" dirty="0" err="1"/>
              <a:t>hiper-düzlem</a:t>
            </a:r>
            <a:r>
              <a:rPr lang="en-GB" sz="1400" dirty="0"/>
              <a:t>) </a:t>
            </a:r>
            <a:r>
              <a:rPr lang="en-GB" sz="1400" dirty="0" err="1"/>
              <a:t>bulur</a:t>
            </a:r>
            <a:r>
              <a:rPr lang="en-GB" sz="1400" dirty="0"/>
              <a:t>. Bu </a:t>
            </a:r>
            <a:r>
              <a:rPr lang="en-GB" sz="1400" dirty="0" err="1"/>
              <a:t>en</a:t>
            </a:r>
            <a:r>
              <a:rPr lang="en-GB" sz="1400" dirty="0"/>
              <a:t> </a:t>
            </a:r>
            <a:r>
              <a:rPr lang="en-GB" sz="1400" dirty="0" err="1"/>
              <a:t>geniş</a:t>
            </a:r>
            <a:r>
              <a:rPr lang="en-GB" sz="1400" dirty="0"/>
              <a:t> </a:t>
            </a:r>
            <a:r>
              <a:rPr lang="en-GB" sz="1400" dirty="0" err="1"/>
              <a:t>boşluğun</a:t>
            </a:r>
            <a:r>
              <a:rPr lang="en-GB" sz="1400" dirty="0"/>
              <a:t> </a:t>
            </a:r>
            <a:r>
              <a:rPr lang="en-GB" sz="1400" dirty="0" err="1"/>
              <a:t>bulunması</a:t>
            </a:r>
            <a:r>
              <a:rPr lang="en-GB" sz="1400" dirty="0"/>
              <a:t>, </a:t>
            </a:r>
            <a:r>
              <a:rPr lang="en-GB" sz="1400" dirty="0" err="1"/>
              <a:t>modelin</a:t>
            </a:r>
            <a:r>
              <a:rPr lang="en-GB" sz="1400" dirty="0"/>
              <a:t> </a:t>
            </a:r>
            <a:r>
              <a:rPr lang="en-GB" sz="1400" dirty="0" err="1"/>
              <a:t>genelleme</a:t>
            </a:r>
            <a:r>
              <a:rPr lang="en-GB" sz="1400" dirty="0"/>
              <a:t> </a:t>
            </a:r>
            <a:r>
              <a:rPr lang="en-GB" sz="1400" dirty="0" err="1"/>
              <a:t>yeteneğini</a:t>
            </a:r>
            <a:r>
              <a:rPr lang="en-GB" sz="1400" dirty="0"/>
              <a:t> </a:t>
            </a:r>
            <a:r>
              <a:rPr lang="en-GB" sz="1400" dirty="0" err="1"/>
              <a:t>maksimize</a:t>
            </a:r>
            <a:r>
              <a:rPr lang="en-GB" sz="1400" dirty="0"/>
              <a:t> </a:t>
            </a:r>
            <a:r>
              <a:rPr lang="en-GB" sz="1400" dirty="0" err="1"/>
              <a:t>eder</a:t>
            </a:r>
            <a:r>
              <a:rPr lang="en-GB" sz="1400" dirty="0"/>
              <a:t>.</a:t>
            </a:r>
          </a:p>
          <a:p>
            <a:endParaRPr lang="en-GB" sz="1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745E7-F07B-A34E-6B24-E49DE23B180F}"/>
              </a:ext>
            </a:extLst>
          </p:cNvPr>
          <p:cNvSpPr txBox="1"/>
          <p:nvPr/>
        </p:nvSpPr>
        <p:spPr>
          <a:xfrm>
            <a:off x="0" y="5081241"/>
            <a:ext cx="12192000" cy="219290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000" b="1" dirty="0"/>
              <a:t>4. BERT </a:t>
            </a:r>
            <a:r>
              <a:rPr lang="tr-TR" sz="2000" b="1" dirty="0"/>
              <a:t>Ailesi</a:t>
            </a:r>
            <a:endParaRPr lang="en-GB" sz="2000" b="1" dirty="0"/>
          </a:p>
          <a:p>
            <a:r>
              <a:rPr lang="en-GB" sz="1400" b="1" dirty="0" err="1"/>
              <a:t>Nasıl</a:t>
            </a:r>
            <a:r>
              <a:rPr lang="en-GB" sz="1400" b="1" dirty="0"/>
              <a:t>, </a:t>
            </a:r>
            <a:r>
              <a:rPr lang="en-GB" sz="1400" b="1" dirty="0" err="1"/>
              <a:t>Nerede</a:t>
            </a:r>
            <a:r>
              <a:rPr lang="en-GB" sz="1400" b="1" dirty="0"/>
              <a:t>, Ne Zaman, Ne </a:t>
            </a:r>
            <a:r>
              <a:rPr lang="en-GB" sz="1400" b="1" dirty="0" err="1"/>
              <a:t>Amaçla</a:t>
            </a:r>
            <a:r>
              <a:rPr lang="en-GB" sz="1400" b="1" dirty="0"/>
              <a:t> </a:t>
            </a:r>
            <a:r>
              <a:rPr lang="en-GB" sz="1400" b="1" dirty="0" err="1"/>
              <a:t>Ortaya</a:t>
            </a:r>
            <a:r>
              <a:rPr lang="en-GB" sz="1400" b="1" dirty="0"/>
              <a:t> </a:t>
            </a:r>
            <a:r>
              <a:rPr lang="en-GB" sz="1400" b="1" dirty="0" err="1"/>
              <a:t>Çıktı</a:t>
            </a:r>
            <a:r>
              <a:rPr lang="en-GB" sz="1400" b="1" dirty="0"/>
              <a:t>?</a:t>
            </a:r>
            <a:r>
              <a:rPr lang="en-GB" sz="1400" dirty="0"/>
              <a:t> Google </a:t>
            </a:r>
            <a:r>
              <a:rPr lang="en-GB" sz="1400" dirty="0" err="1"/>
              <a:t>tarafından</a:t>
            </a:r>
            <a:r>
              <a:rPr lang="en-GB" sz="1400" dirty="0"/>
              <a:t> 2018'de </a:t>
            </a:r>
            <a:r>
              <a:rPr lang="en-GB" sz="1400" dirty="0" err="1"/>
              <a:t>geliştirilen</a:t>
            </a:r>
            <a:r>
              <a:rPr lang="en-GB" sz="1400" dirty="0"/>
              <a:t> BERT, </a:t>
            </a:r>
            <a:r>
              <a:rPr lang="en-GB" sz="1400" dirty="0" err="1"/>
              <a:t>doğal</a:t>
            </a:r>
            <a:r>
              <a:rPr lang="en-GB" sz="1400" dirty="0"/>
              <a:t> </a:t>
            </a:r>
            <a:r>
              <a:rPr lang="en-GB" sz="1400" dirty="0" err="1"/>
              <a:t>dil</a:t>
            </a:r>
            <a:r>
              <a:rPr lang="en-GB" sz="1400" dirty="0"/>
              <a:t> </a:t>
            </a:r>
            <a:r>
              <a:rPr lang="en-GB" sz="1400" dirty="0" err="1"/>
              <a:t>işlemede</a:t>
            </a:r>
            <a:r>
              <a:rPr lang="en-GB" sz="1400" dirty="0"/>
              <a:t> (NLP) </a:t>
            </a:r>
            <a:r>
              <a:rPr lang="en-GB" sz="1400" dirty="0" err="1"/>
              <a:t>bir</a:t>
            </a:r>
            <a:r>
              <a:rPr lang="en-GB" sz="1400" dirty="0"/>
              <a:t> </a:t>
            </a:r>
            <a:r>
              <a:rPr lang="en-GB" sz="1400" dirty="0" err="1"/>
              <a:t>devrim</a:t>
            </a:r>
            <a:r>
              <a:rPr lang="en-GB" sz="1400" dirty="0"/>
              <a:t> </a:t>
            </a:r>
            <a:r>
              <a:rPr lang="en-GB" sz="1400" dirty="0" err="1"/>
              <a:t>niteliğindedir</a:t>
            </a:r>
            <a:r>
              <a:rPr lang="en-GB" sz="1400" dirty="0"/>
              <a:t>. </a:t>
            </a:r>
            <a:r>
              <a:rPr lang="en-GB" sz="1400" dirty="0" err="1"/>
              <a:t>Amacı</a:t>
            </a:r>
            <a:r>
              <a:rPr lang="en-GB" sz="1400" dirty="0"/>
              <a:t>, </a:t>
            </a:r>
            <a:r>
              <a:rPr lang="en-GB" sz="1400" dirty="0" err="1"/>
              <a:t>kelimelerin</a:t>
            </a:r>
            <a:r>
              <a:rPr lang="en-GB" sz="1400" dirty="0"/>
              <a:t> </a:t>
            </a:r>
            <a:r>
              <a:rPr lang="en-GB" sz="1400" dirty="0" err="1"/>
              <a:t>cümle</a:t>
            </a:r>
            <a:r>
              <a:rPr lang="en-GB" sz="1400" dirty="0"/>
              <a:t> </a:t>
            </a:r>
            <a:r>
              <a:rPr lang="en-GB" sz="1400" dirty="0" err="1"/>
              <a:t>içindeki</a:t>
            </a:r>
            <a:r>
              <a:rPr lang="en-GB" sz="1400" dirty="0"/>
              <a:t> </a:t>
            </a:r>
            <a:r>
              <a:rPr lang="en-GB" sz="1400" b="1" dirty="0" err="1"/>
              <a:t>bağlamını</a:t>
            </a:r>
            <a:r>
              <a:rPr lang="en-GB" sz="1400" b="1" dirty="0"/>
              <a:t> </a:t>
            </a:r>
            <a:r>
              <a:rPr lang="en-GB" sz="1400" b="1" dirty="0" err="1"/>
              <a:t>anlayarak</a:t>
            </a:r>
            <a:r>
              <a:rPr lang="en-GB" sz="1400" dirty="0"/>
              <a:t> </a:t>
            </a:r>
            <a:r>
              <a:rPr lang="en-GB" sz="1400" dirty="0" err="1"/>
              <a:t>dilin</a:t>
            </a:r>
            <a:r>
              <a:rPr lang="en-GB" sz="1400" dirty="0"/>
              <a:t> </a:t>
            </a:r>
            <a:r>
              <a:rPr lang="en-GB" sz="1400" dirty="0" err="1"/>
              <a:t>yapısını</a:t>
            </a:r>
            <a:r>
              <a:rPr lang="en-GB" sz="1400" dirty="0"/>
              <a:t> </a:t>
            </a:r>
            <a:r>
              <a:rPr lang="en-GB" sz="1400" dirty="0" err="1"/>
              <a:t>derinlemesine</a:t>
            </a:r>
            <a:r>
              <a:rPr lang="en-GB" sz="1400" dirty="0"/>
              <a:t> </a:t>
            </a:r>
            <a:r>
              <a:rPr lang="en-GB" sz="1400" dirty="0" err="1"/>
              <a:t>öğrenmektir</a:t>
            </a:r>
            <a:r>
              <a:rPr lang="en-GB" sz="1400" dirty="0"/>
              <a:t>. </a:t>
            </a:r>
            <a:r>
              <a:rPr lang="en-GB" sz="1400" dirty="0" err="1"/>
              <a:t>SciBERT</a:t>
            </a:r>
            <a:r>
              <a:rPr lang="en-GB" sz="1400" dirty="0"/>
              <a:t> </a:t>
            </a:r>
            <a:r>
              <a:rPr lang="en-GB" sz="1400" dirty="0" err="1"/>
              <a:t>gibi</a:t>
            </a:r>
            <a:r>
              <a:rPr lang="en-GB" sz="1400" dirty="0"/>
              <a:t> </a:t>
            </a:r>
            <a:r>
              <a:rPr lang="en-GB" sz="1400" dirty="0" err="1"/>
              <a:t>türevleri</a:t>
            </a:r>
            <a:r>
              <a:rPr lang="en-GB" sz="1400" dirty="0"/>
              <a:t>, </a:t>
            </a:r>
            <a:r>
              <a:rPr lang="en-GB" sz="1400" dirty="0" err="1"/>
              <a:t>bu</a:t>
            </a:r>
            <a:r>
              <a:rPr lang="en-GB" sz="1400" dirty="0"/>
              <a:t> </a:t>
            </a:r>
            <a:r>
              <a:rPr lang="en-GB" sz="1400" dirty="0" err="1"/>
              <a:t>genel</a:t>
            </a:r>
            <a:r>
              <a:rPr lang="en-GB" sz="1400" dirty="0"/>
              <a:t> </a:t>
            </a:r>
            <a:r>
              <a:rPr lang="en-GB" sz="1400" dirty="0" err="1"/>
              <a:t>modeli</a:t>
            </a:r>
            <a:r>
              <a:rPr lang="en-GB" sz="1400" dirty="0"/>
              <a:t> </a:t>
            </a:r>
            <a:r>
              <a:rPr lang="en-GB" sz="1400" dirty="0" err="1"/>
              <a:t>belirli</a:t>
            </a:r>
            <a:r>
              <a:rPr lang="en-GB" sz="1400" dirty="0"/>
              <a:t> </a:t>
            </a:r>
            <a:r>
              <a:rPr lang="en-GB" sz="1400" dirty="0" err="1"/>
              <a:t>alanlardaki</a:t>
            </a:r>
            <a:r>
              <a:rPr lang="en-GB" sz="1400" dirty="0"/>
              <a:t> (</a:t>
            </a:r>
            <a:r>
              <a:rPr lang="en-GB" sz="1400" dirty="0" err="1"/>
              <a:t>akademik</a:t>
            </a:r>
            <a:r>
              <a:rPr lang="en-GB" sz="1400" dirty="0"/>
              <a:t> </a:t>
            </a:r>
            <a:r>
              <a:rPr lang="en-GB" sz="1400" dirty="0" err="1"/>
              <a:t>metinler</a:t>
            </a:r>
            <a:r>
              <a:rPr lang="en-GB" sz="1400" dirty="0"/>
              <a:t> </a:t>
            </a:r>
            <a:r>
              <a:rPr lang="en-GB" sz="1400" dirty="0" err="1"/>
              <a:t>gibi</a:t>
            </a:r>
            <a:r>
              <a:rPr lang="en-GB" sz="1400" dirty="0"/>
              <a:t>) </a:t>
            </a:r>
            <a:r>
              <a:rPr lang="en-GB" sz="1400" dirty="0" err="1"/>
              <a:t>terimlere</a:t>
            </a:r>
            <a:r>
              <a:rPr lang="en-GB" sz="1400" dirty="0"/>
              <a:t> </a:t>
            </a:r>
            <a:r>
              <a:rPr lang="en-GB" sz="1400" dirty="0" err="1"/>
              <a:t>adapte</a:t>
            </a:r>
            <a:r>
              <a:rPr lang="en-GB" sz="1400" dirty="0"/>
              <a:t> </a:t>
            </a:r>
            <a:r>
              <a:rPr lang="en-GB" sz="1400" dirty="0" err="1"/>
              <a:t>etmek</a:t>
            </a:r>
            <a:r>
              <a:rPr lang="en-GB" sz="1400" dirty="0"/>
              <a:t> </a:t>
            </a:r>
            <a:r>
              <a:rPr lang="en-GB" sz="1400" dirty="0" err="1"/>
              <a:t>için</a:t>
            </a:r>
            <a:r>
              <a:rPr lang="en-GB" sz="1400" dirty="0"/>
              <a:t> </a:t>
            </a:r>
            <a:r>
              <a:rPr lang="en-GB" sz="1400" dirty="0" err="1"/>
              <a:t>kullanıldı</a:t>
            </a:r>
            <a:r>
              <a:rPr lang="en-GB" sz="1400" dirty="0"/>
              <a:t>.</a:t>
            </a:r>
          </a:p>
          <a:p>
            <a:r>
              <a:rPr lang="en-GB" sz="1400" b="1" dirty="0"/>
              <a:t>Hangi </a:t>
            </a:r>
            <a:r>
              <a:rPr lang="en-GB" sz="1400" b="1" dirty="0" err="1"/>
              <a:t>Verilerle</a:t>
            </a:r>
            <a:r>
              <a:rPr lang="en-GB" sz="1400" b="1" dirty="0"/>
              <a:t> </a:t>
            </a:r>
            <a:r>
              <a:rPr lang="en-GB" sz="1400" b="1" dirty="0" err="1"/>
              <a:t>Başarılı</a:t>
            </a:r>
            <a:r>
              <a:rPr lang="en-GB" sz="1400" b="1" dirty="0"/>
              <a:t>?</a:t>
            </a:r>
            <a:r>
              <a:rPr lang="en-GB" sz="1400" dirty="0"/>
              <a:t> </a:t>
            </a:r>
            <a:r>
              <a:rPr lang="en-GB" sz="1400" dirty="0" err="1"/>
              <a:t>Tüm</a:t>
            </a:r>
            <a:r>
              <a:rPr lang="en-GB" sz="1400" dirty="0"/>
              <a:t> NLP </a:t>
            </a:r>
            <a:r>
              <a:rPr lang="en-GB" sz="1400" dirty="0" err="1"/>
              <a:t>görevlerinde</a:t>
            </a:r>
            <a:r>
              <a:rPr lang="en-GB" sz="1400" dirty="0"/>
              <a:t> (</a:t>
            </a:r>
            <a:r>
              <a:rPr lang="en-GB" sz="1400" dirty="0" err="1"/>
              <a:t>metin</a:t>
            </a:r>
            <a:r>
              <a:rPr lang="en-GB" sz="1400" dirty="0"/>
              <a:t> </a:t>
            </a:r>
            <a:r>
              <a:rPr lang="en-GB" sz="1400" dirty="0" err="1"/>
              <a:t>sınıflandırma</a:t>
            </a:r>
            <a:r>
              <a:rPr lang="en-GB" sz="1400" dirty="0"/>
              <a:t>, </a:t>
            </a:r>
            <a:r>
              <a:rPr lang="en-GB" sz="1400" dirty="0" err="1"/>
              <a:t>duygu</a:t>
            </a:r>
            <a:r>
              <a:rPr lang="en-GB" sz="1400" dirty="0"/>
              <a:t> </a:t>
            </a:r>
            <a:r>
              <a:rPr lang="en-GB" sz="1400" dirty="0" err="1"/>
              <a:t>analizi</a:t>
            </a:r>
            <a:r>
              <a:rPr lang="en-GB" sz="1400" dirty="0"/>
              <a:t>, </a:t>
            </a:r>
            <a:r>
              <a:rPr lang="en-GB" sz="1400" dirty="0" err="1"/>
              <a:t>soru-cevap</a:t>
            </a:r>
            <a:r>
              <a:rPr lang="en-GB" sz="1400" dirty="0"/>
              <a:t> </a:t>
            </a:r>
            <a:r>
              <a:rPr lang="en-GB" sz="1400" dirty="0" err="1"/>
              <a:t>sistemleri</a:t>
            </a:r>
            <a:r>
              <a:rPr lang="en-GB" sz="1400" dirty="0"/>
              <a:t> vb.) </a:t>
            </a:r>
            <a:r>
              <a:rPr lang="en-GB" sz="1400" dirty="0" err="1"/>
              <a:t>en</a:t>
            </a:r>
            <a:r>
              <a:rPr lang="en-GB" sz="1400" dirty="0"/>
              <a:t> </a:t>
            </a:r>
            <a:r>
              <a:rPr lang="en-GB" sz="1400" dirty="0" err="1"/>
              <a:t>yüksek</a:t>
            </a:r>
            <a:r>
              <a:rPr lang="en-GB" sz="1400" dirty="0"/>
              <a:t> </a:t>
            </a:r>
            <a:r>
              <a:rPr lang="en-GB" sz="1400" dirty="0" err="1"/>
              <a:t>performansı</a:t>
            </a:r>
            <a:r>
              <a:rPr lang="en-GB" sz="1400" dirty="0"/>
              <a:t> </a:t>
            </a:r>
            <a:r>
              <a:rPr lang="en-GB" sz="1400" dirty="0" err="1"/>
              <a:t>sunar</a:t>
            </a:r>
            <a:r>
              <a:rPr lang="en-GB" sz="1400" dirty="0"/>
              <a:t>. </a:t>
            </a:r>
            <a:r>
              <a:rPr lang="en-GB" sz="1400" dirty="0" err="1"/>
              <a:t>Özellikle</a:t>
            </a:r>
            <a:r>
              <a:rPr lang="en-GB" sz="1400" dirty="0"/>
              <a:t>, </a:t>
            </a:r>
            <a:r>
              <a:rPr lang="en-GB" sz="1400" dirty="0" err="1"/>
              <a:t>kelimelerin</a:t>
            </a:r>
            <a:r>
              <a:rPr lang="en-GB" sz="1400" dirty="0"/>
              <a:t> </a:t>
            </a:r>
            <a:r>
              <a:rPr lang="en-GB" sz="1400" dirty="0" err="1"/>
              <a:t>anlamının</a:t>
            </a:r>
            <a:r>
              <a:rPr lang="en-GB" sz="1400" dirty="0"/>
              <a:t> </a:t>
            </a:r>
            <a:r>
              <a:rPr lang="en-GB" sz="1400" dirty="0" err="1"/>
              <a:t>bağlama</a:t>
            </a:r>
            <a:r>
              <a:rPr lang="en-GB" sz="1400" dirty="0"/>
              <a:t> </a:t>
            </a:r>
            <a:r>
              <a:rPr lang="en-GB" sz="1400" dirty="0" err="1"/>
              <a:t>göre</a:t>
            </a:r>
            <a:r>
              <a:rPr lang="en-GB" sz="1400" dirty="0"/>
              <a:t> </a:t>
            </a:r>
            <a:r>
              <a:rPr lang="en-GB" sz="1400" dirty="0" err="1"/>
              <a:t>değiştiği</a:t>
            </a:r>
            <a:r>
              <a:rPr lang="en-GB" sz="1400" dirty="0"/>
              <a:t> </a:t>
            </a:r>
            <a:r>
              <a:rPr lang="en-GB" sz="1400" dirty="0" err="1"/>
              <a:t>karmaşık</a:t>
            </a:r>
            <a:r>
              <a:rPr lang="en-GB" sz="1400" dirty="0"/>
              <a:t> </a:t>
            </a:r>
            <a:r>
              <a:rPr lang="en-GB" sz="1400" dirty="0" err="1"/>
              <a:t>metinlerle</a:t>
            </a:r>
            <a:r>
              <a:rPr lang="en-GB" sz="1400" dirty="0"/>
              <a:t> </a:t>
            </a:r>
            <a:r>
              <a:rPr lang="en-GB" sz="1400" dirty="0" err="1"/>
              <a:t>çok</a:t>
            </a:r>
            <a:r>
              <a:rPr lang="en-GB" sz="1400" dirty="0"/>
              <a:t> </a:t>
            </a:r>
            <a:r>
              <a:rPr lang="en-GB" sz="1400" dirty="0" err="1"/>
              <a:t>başarılıdır</a:t>
            </a:r>
            <a:r>
              <a:rPr lang="en-GB" sz="1400" dirty="0"/>
              <a:t>.</a:t>
            </a:r>
          </a:p>
          <a:p>
            <a:r>
              <a:rPr lang="en-GB" sz="1400" b="1" dirty="0" err="1"/>
              <a:t>Çalışma</a:t>
            </a:r>
            <a:r>
              <a:rPr lang="en-GB" sz="1400" b="1" dirty="0"/>
              <a:t> </a:t>
            </a:r>
            <a:r>
              <a:rPr lang="en-GB" sz="1400" b="1" dirty="0" err="1"/>
              <a:t>Prensibi</a:t>
            </a:r>
            <a:r>
              <a:rPr lang="en-GB" sz="1400" b="1" dirty="0"/>
              <a:t>:</a:t>
            </a:r>
            <a:r>
              <a:rPr lang="en-GB" sz="1400" dirty="0"/>
              <a:t> </a:t>
            </a:r>
            <a:r>
              <a:rPr lang="en-GB" sz="1400" dirty="0" err="1"/>
              <a:t>Metni</a:t>
            </a:r>
            <a:r>
              <a:rPr lang="en-GB" sz="1400" dirty="0"/>
              <a:t> hem soldan </a:t>
            </a:r>
            <a:r>
              <a:rPr lang="en-GB" sz="1400" dirty="0" err="1"/>
              <a:t>sağa</a:t>
            </a:r>
            <a:r>
              <a:rPr lang="en-GB" sz="1400" dirty="0"/>
              <a:t> hem de </a:t>
            </a:r>
            <a:r>
              <a:rPr lang="en-GB" sz="1400" dirty="0" err="1"/>
              <a:t>sağdan</a:t>
            </a:r>
            <a:r>
              <a:rPr lang="en-GB" sz="1400" dirty="0"/>
              <a:t> sola </a:t>
            </a:r>
            <a:r>
              <a:rPr lang="en-GB" sz="1400" dirty="0" err="1"/>
              <a:t>okuyarak</a:t>
            </a:r>
            <a:r>
              <a:rPr lang="en-GB" sz="1400" dirty="0"/>
              <a:t>, her </a:t>
            </a:r>
            <a:r>
              <a:rPr lang="en-GB" sz="1400" dirty="0" err="1"/>
              <a:t>kelimenin</a:t>
            </a:r>
            <a:r>
              <a:rPr lang="en-GB" sz="1400" dirty="0"/>
              <a:t> </a:t>
            </a:r>
            <a:r>
              <a:rPr lang="en-GB" sz="1400" dirty="0" err="1"/>
              <a:t>etrafındaki</a:t>
            </a:r>
            <a:r>
              <a:rPr lang="en-GB" sz="1400" dirty="0"/>
              <a:t> </a:t>
            </a:r>
            <a:r>
              <a:rPr lang="en-GB" sz="1400" dirty="0" err="1"/>
              <a:t>kelimelerle</a:t>
            </a:r>
            <a:r>
              <a:rPr lang="en-GB" sz="1400" dirty="0"/>
              <a:t> </a:t>
            </a:r>
            <a:r>
              <a:rPr lang="en-GB" sz="1400" dirty="0" err="1"/>
              <a:t>olan</a:t>
            </a:r>
            <a:r>
              <a:rPr lang="en-GB" sz="1400" dirty="0"/>
              <a:t> </a:t>
            </a:r>
            <a:r>
              <a:rPr lang="en-GB" sz="1400" dirty="0" err="1"/>
              <a:t>ilişkisini</a:t>
            </a:r>
            <a:r>
              <a:rPr lang="en-GB" sz="1400" dirty="0"/>
              <a:t> </a:t>
            </a:r>
            <a:r>
              <a:rPr lang="en-GB" sz="1400" dirty="0" err="1"/>
              <a:t>anlamak</a:t>
            </a:r>
            <a:r>
              <a:rPr lang="en-GB" sz="1400" dirty="0"/>
              <a:t> </a:t>
            </a:r>
            <a:r>
              <a:rPr lang="en-GB" sz="1400" dirty="0" err="1"/>
              <a:t>için</a:t>
            </a:r>
            <a:r>
              <a:rPr lang="en-GB" sz="1400" dirty="0"/>
              <a:t> </a:t>
            </a:r>
            <a:r>
              <a:rPr lang="en-GB" sz="1400" dirty="0" err="1"/>
              <a:t>dikkat</a:t>
            </a:r>
            <a:r>
              <a:rPr lang="en-GB" sz="1400" dirty="0"/>
              <a:t> </a:t>
            </a:r>
            <a:r>
              <a:rPr lang="en-GB" sz="1400" dirty="0" err="1"/>
              <a:t>mekanizmasını</a:t>
            </a:r>
            <a:r>
              <a:rPr lang="en-GB" sz="1400" dirty="0"/>
              <a:t> </a:t>
            </a:r>
            <a:r>
              <a:rPr lang="en-GB" sz="1400" dirty="0" err="1"/>
              <a:t>kullanır</a:t>
            </a:r>
            <a:r>
              <a:rPr lang="en-GB" sz="1400" dirty="0"/>
              <a:t>. </a:t>
            </a:r>
            <a:r>
              <a:rPr lang="en-GB" sz="1400" dirty="0" err="1"/>
              <a:t>Gizlenen</a:t>
            </a:r>
            <a:r>
              <a:rPr lang="en-GB" sz="1400" dirty="0"/>
              <a:t> </a:t>
            </a:r>
            <a:r>
              <a:rPr lang="en-GB" sz="1400" dirty="0" err="1"/>
              <a:t>kelimeleri</a:t>
            </a:r>
            <a:r>
              <a:rPr lang="en-GB" sz="1400" dirty="0"/>
              <a:t> </a:t>
            </a:r>
            <a:r>
              <a:rPr lang="en-GB" sz="1400" dirty="0" err="1"/>
              <a:t>tahmin</a:t>
            </a:r>
            <a:r>
              <a:rPr lang="en-GB" sz="1400" dirty="0"/>
              <a:t> </a:t>
            </a:r>
            <a:r>
              <a:rPr lang="en-GB" sz="1400" dirty="0" err="1"/>
              <a:t>etme</a:t>
            </a:r>
            <a:r>
              <a:rPr lang="en-GB" sz="1400" dirty="0"/>
              <a:t> </a:t>
            </a:r>
            <a:r>
              <a:rPr lang="en-GB" sz="1400" dirty="0" err="1"/>
              <a:t>ve</a:t>
            </a:r>
            <a:r>
              <a:rPr lang="en-GB" sz="1400" dirty="0"/>
              <a:t> </a:t>
            </a:r>
            <a:r>
              <a:rPr lang="en-GB" sz="1400" dirty="0" err="1"/>
              <a:t>cümleler</a:t>
            </a:r>
            <a:r>
              <a:rPr lang="en-GB" sz="1400" dirty="0"/>
              <a:t> </a:t>
            </a:r>
            <a:r>
              <a:rPr lang="en-GB" sz="1400" dirty="0" err="1"/>
              <a:t>arası</a:t>
            </a:r>
            <a:r>
              <a:rPr lang="en-GB" sz="1400" dirty="0"/>
              <a:t> </a:t>
            </a:r>
            <a:r>
              <a:rPr lang="en-GB" sz="1400" dirty="0" err="1"/>
              <a:t>ilişkiyi</a:t>
            </a:r>
            <a:r>
              <a:rPr lang="en-GB" sz="1400" dirty="0"/>
              <a:t> </a:t>
            </a:r>
            <a:r>
              <a:rPr lang="en-GB" sz="1400" dirty="0" err="1"/>
              <a:t>öğrenme</a:t>
            </a:r>
            <a:r>
              <a:rPr lang="en-GB" sz="1400" dirty="0"/>
              <a:t> </a:t>
            </a:r>
            <a:r>
              <a:rPr lang="en-GB" sz="1400" dirty="0" err="1"/>
              <a:t>gibi</a:t>
            </a:r>
            <a:r>
              <a:rPr lang="en-GB" sz="1400" dirty="0"/>
              <a:t> </a:t>
            </a:r>
            <a:r>
              <a:rPr lang="en-GB" sz="1400" dirty="0" err="1"/>
              <a:t>görevlerle</a:t>
            </a:r>
            <a:r>
              <a:rPr lang="en-GB" sz="1400" dirty="0"/>
              <a:t> </a:t>
            </a:r>
            <a:r>
              <a:rPr lang="en-GB" sz="1400" dirty="0" err="1"/>
              <a:t>eğitilerek</a:t>
            </a:r>
            <a:r>
              <a:rPr lang="en-GB" sz="1400" dirty="0"/>
              <a:t>, her </a:t>
            </a:r>
            <a:r>
              <a:rPr lang="en-GB" sz="1400" dirty="0" err="1"/>
              <a:t>kelime</a:t>
            </a:r>
            <a:r>
              <a:rPr lang="en-GB" sz="1400" dirty="0"/>
              <a:t> </a:t>
            </a:r>
            <a:r>
              <a:rPr lang="en-GB" sz="1400" dirty="0" err="1"/>
              <a:t>için</a:t>
            </a:r>
            <a:r>
              <a:rPr lang="en-GB" sz="1400" dirty="0"/>
              <a:t> </a:t>
            </a:r>
            <a:r>
              <a:rPr lang="en-GB" sz="1400" dirty="0" err="1"/>
              <a:t>bağlamsal</a:t>
            </a:r>
            <a:r>
              <a:rPr lang="en-GB" sz="1400" dirty="0"/>
              <a:t> </a:t>
            </a:r>
            <a:r>
              <a:rPr lang="en-GB" sz="1400" dirty="0" err="1"/>
              <a:t>bir</a:t>
            </a:r>
            <a:r>
              <a:rPr lang="en-GB" sz="1400" dirty="0"/>
              <a:t> </a:t>
            </a:r>
            <a:r>
              <a:rPr lang="en-GB" sz="1400" dirty="0" err="1"/>
              <a:t>vektör</a:t>
            </a:r>
            <a:r>
              <a:rPr lang="en-GB" sz="1400" dirty="0"/>
              <a:t> </a:t>
            </a:r>
            <a:r>
              <a:rPr lang="en-GB" sz="1400" dirty="0" err="1"/>
              <a:t>temsili</a:t>
            </a:r>
            <a:r>
              <a:rPr lang="en-GB" sz="1400" dirty="0"/>
              <a:t> </a:t>
            </a:r>
            <a:r>
              <a:rPr lang="en-GB" sz="1400" dirty="0" err="1"/>
              <a:t>oluşturur</a:t>
            </a:r>
            <a:r>
              <a:rPr lang="en-GB" sz="1450" dirty="0"/>
              <a:t>.</a:t>
            </a:r>
          </a:p>
          <a:p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215949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371599" y="5510253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latin typeface="DejaVu Sans"/>
              </a:defRPr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Veri Seti: Kaynak ve Dağılım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40256" y="3833199"/>
            <a:ext cx="8332826" cy="11199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DejaVu Sans"/>
              </a:defRPr>
            </a:pPr>
            <a:r>
              <a:rPr lang="en-US" sz="1400" dirty="0"/>
              <a:t>Kaynak: Web of Science (</a:t>
            </a:r>
            <a:r>
              <a:rPr lang="en-US" sz="1400" dirty="0" err="1"/>
              <a:t>WoS</a:t>
            </a:r>
            <a:r>
              <a:rPr lang="en-US" sz="1400" dirty="0"/>
              <a:t>) — ~121,000 </a:t>
            </a:r>
            <a:r>
              <a:rPr lang="en-US" sz="1400" dirty="0" err="1"/>
              <a:t>özet</a:t>
            </a:r>
            <a:r>
              <a:rPr lang="en-US" sz="1400" dirty="0"/>
              <a:t>; 12 </a:t>
            </a:r>
            <a:r>
              <a:rPr lang="en-US" sz="1400" dirty="0" err="1"/>
              <a:t>kategori</a:t>
            </a:r>
            <a:r>
              <a:rPr lang="en-US" sz="1400" dirty="0"/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DejaVu Sans"/>
              </a:defRPr>
            </a:pPr>
            <a:r>
              <a:rPr lang="en-US" sz="1400" dirty="0" err="1"/>
              <a:t>Sınıf</a:t>
            </a:r>
            <a:r>
              <a:rPr lang="en-US" sz="1400" dirty="0"/>
              <a:t> </a:t>
            </a:r>
            <a:r>
              <a:rPr lang="en-US" sz="1400" dirty="0" err="1"/>
              <a:t>örnekleri</a:t>
            </a:r>
            <a:r>
              <a:rPr lang="en-US" sz="1400" dirty="0"/>
              <a:t>: Astronomy, Biology, Chemistry, Computer Science/AI, Economics, Environmental, Geography, Materials, Medicine, Neurosciences, Music, Physics.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DejaVu Sans"/>
              </a:defRPr>
            </a:pPr>
            <a:r>
              <a:rPr lang="en-US" sz="1400" dirty="0"/>
              <a:t>Train/Test: %80/%20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8A1F0A-F5D7-0091-27E5-BC89D5DB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0256" y="110024"/>
            <a:ext cx="7670800" cy="3835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C171BD6-8E8D-C2F6-63CC-45B8C8ACA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15559"/>
            <a:ext cx="12192000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A. (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İsteğe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bağlı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İlk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temizleme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deterministik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önişleme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Küçük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harfe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çevirme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regex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zararlı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karakterleri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kaldırma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çoklu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boşlukları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temizleme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gibi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etkisiz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deterministik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işlemler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tüm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setine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uygulanabilir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istatistiksel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dönüşümler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ör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IDF, TF-IDF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sözlük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scaler mean/std)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aşamada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yapılmamalı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B. Veri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Bölme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(split) —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kesinlikle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burada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Önce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veriyi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böl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örn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train / validation / test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veya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K-Fold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stratejisi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Neden: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çünkü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sonrasında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yapılacak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(TF-IDF fit, SVD, scaler vb.)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sadece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train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üzerinde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yapılmalı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/test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sadece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edilmelidir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Bu,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leakage’ı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engeller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C.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Özellik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çıkarma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fit on train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 on </a:t>
            </a:r>
            <a:r>
              <a:rPr kumimoji="0" lang="en-US" altLang="en-US" sz="24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</a:t>
            </a: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/test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Klasik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ML: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TfidfVectorizer.fit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(train); transform(train/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/test)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DL (BERT): tokenizer stateless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doğrudan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tokenize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edilebilir</a:t>
            </a:r>
            <a:r>
              <a:rPr lang="tr-TR" altLang="en-US" sz="1400" dirty="0">
                <a:latin typeface="Arial" panose="020B0604020202020204" pitchFamily="34" charset="0"/>
              </a:rPr>
              <a:t>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Eğer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TF-IDF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boyutu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çok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büyükse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TruncatedSVD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gibi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boyut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azaltmayı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yine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sadece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train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üzerinde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fit et,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sonra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transform et.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D. İlk fine-tuning / training (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opsiyonel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tr-TR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lang="en-US" altLang="en-US" sz="2400" b="1" dirty="0">
                <a:latin typeface="Arial" panose="020B0604020202020204" pitchFamily="34" charset="0"/>
              </a:rPr>
              <a:t> </a:t>
            </a:r>
            <a:r>
              <a:rPr lang="en-US" altLang="en-US" sz="2400" b="1" dirty="0" err="1">
                <a:latin typeface="Arial" panose="020B0604020202020204" pitchFamily="34" charset="0"/>
              </a:rPr>
              <a:t>Hiperparametre</a:t>
            </a:r>
            <a:r>
              <a:rPr lang="en-US" altLang="en-US" sz="2400" b="1" dirty="0">
                <a:latin typeface="Arial" panose="020B0604020202020204" pitchFamily="34" charset="0"/>
              </a:rPr>
              <a:t> </a:t>
            </a:r>
            <a:r>
              <a:rPr lang="en-US" altLang="en-US" sz="2400" b="1" dirty="0" err="1">
                <a:latin typeface="Arial" panose="020B0604020202020204" pitchFamily="34" charset="0"/>
              </a:rPr>
              <a:t>Optimizasyonu</a:t>
            </a:r>
            <a:r>
              <a:rPr lang="en-US" altLang="en-US" sz="2400" b="1" dirty="0">
                <a:latin typeface="Arial" panose="020B0604020202020204" pitchFamily="34" charset="0"/>
              </a:rPr>
              <a:t> (HPO</a:t>
            </a:r>
            <a:r>
              <a:rPr lang="tr-TR" altLang="en-US" sz="2400" b="1" dirty="0">
                <a:latin typeface="Arial" panose="020B0604020202020204" pitchFamily="34" charset="0"/>
              </a:rPr>
              <a:t>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Hızlı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varsayılan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hiperparametrelerle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1–2 run al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ör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=2e-5, epochs=3) —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amaç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hızlı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kıyaslama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zaman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kazancı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adım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senin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“ilk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kıyaslama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amacına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hizmet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HPO,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aslında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birden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çok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fine-tuning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çalıştırır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her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deneme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fine-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tune’dur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Sınıflandırma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(Test / Inference)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checkpoint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üzerinde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predict et;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tüm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metrikleri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hesapla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(Test set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daha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önce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hiç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kullanılmamış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olmalı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Raporlama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Hata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Analizi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Precision/Recall/F1 (micro/macro/weighted), confusion matrix, per-class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metrikler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eğitim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süresi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donanım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bilgisi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seed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hyperparam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konfigürasyonlarını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raporla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200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latin typeface="DejaVu Sans"/>
              </a:defRPr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Ön İşleme (Preprocessing)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703106-4D3D-10D5-2E4F-81792C588286}"/>
              </a:ext>
            </a:extLst>
          </p:cNvPr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800" dirty="0" err="1"/>
              <a:t>Küçük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harfe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çevirme</a:t>
            </a:r>
            <a:r>
              <a:rPr lang="en-US" altLang="en-US" sz="2800" dirty="0"/>
              <a:t>, regex </a:t>
            </a:r>
            <a:r>
              <a:rPr lang="en-US" altLang="en-US" sz="2800" dirty="0" err="1"/>
              <a:t>ile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zararlı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karakterleri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kaldırma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çoklu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boşlukları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temizleme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gibi</a:t>
            </a:r>
            <a:r>
              <a:rPr lang="en-US" altLang="en-US" sz="2800" dirty="0"/>
              <a:t> </a:t>
            </a:r>
            <a:r>
              <a:rPr lang="en-US" altLang="en-US" sz="2800" b="1" dirty="0" err="1"/>
              <a:t>etkisiz</a:t>
            </a:r>
            <a:r>
              <a:rPr lang="en-US" altLang="en-US" sz="2800" b="1" dirty="0"/>
              <a:t> / </a:t>
            </a:r>
            <a:r>
              <a:rPr lang="en-US" altLang="en-US" sz="2800" b="1" dirty="0" err="1"/>
              <a:t>deterministik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işlemler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tüm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veri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setine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uygulanabilir</a:t>
            </a:r>
            <a:r>
              <a:rPr lang="en-US" altLang="en-US" sz="2800" dirty="0"/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latin typeface="DejaVu Sans"/>
              </a:defRPr>
            </a:pP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Özellik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Çıkarımı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4800" b="1" dirty="0"/>
              <a:t>TF-IDF (Term Frequency – Inverse Document Frequency)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dirty="0" err="1"/>
              <a:t>Metni</a:t>
            </a:r>
            <a:r>
              <a:rPr lang="en-US" sz="4000" dirty="0"/>
              <a:t> </a:t>
            </a:r>
            <a:r>
              <a:rPr lang="en-US" sz="4000" dirty="0" err="1"/>
              <a:t>sayılara</a:t>
            </a:r>
            <a:r>
              <a:rPr lang="en-US" sz="4000" dirty="0"/>
              <a:t> </a:t>
            </a:r>
            <a:r>
              <a:rPr lang="en-US" sz="4000" dirty="0" err="1"/>
              <a:t>dönüştürme</a:t>
            </a:r>
            <a:r>
              <a:rPr lang="en-US" sz="4000" dirty="0"/>
              <a:t> </a:t>
            </a:r>
            <a:r>
              <a:rPr lang="en-US" sz="4000" dirty="0" err="1"/>
              <a:t>yöntemi</a:t>
            </a:r>
            <a:r>
              <a:rPr lang="en-US" sz="4000" dirty="0"/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dirty="0" err="1"/>
              <a:t>Önemli</a:t>
            </a:r>
            <a:r>
              <a:rPr lang="en-US" sz="4000" dirty="0"/>
              <a:t> </a:t>
            </a:r>
            <a:r>
              <a:rPr lang="en-US" sz="4000" dirty="0" err="1"/>
              <a:t>kelimelere</a:t>
            </a:r>
            <a:r>
              <a:rPr lang="en-US" sz="4000" dirty="0"/>
              <a:t> </a:t>
            </a:r>
            <a:r>
              <a:rPr lang="en-US" sz="4000" dirty="0" err="1"/>
              <a:t>yüksek</a:t>
            </a:r>
            <a:r>
              <a:rPr lang="en-US" sz="4000" dirty="0"/>
              <a:t>, </a:t>
            </a:r>
            <a:r>
              <a:rPr lang="en-US" sz="4000" dirty="0" err="1"/>
              <a:t>sık</a:t>
            </a:r>
            <a:r>
              <a:rPr lang="en-US" sz="4000" dirty="0"/>
              <a:t> </a:t>
            </a:r>
            <a:r>
              <a:rPr lang="en-US" sz="4000" dirty="0" err="1"/>
              <a:t>kullanılan</a:t>
            </a:r>
            <a:r>
              <a:rPr lang="en-US" sz="4000" dirty="0"/>
              <a:t> </a:t>
            </a:r>
            <a:r>
              <a:rPr lang="en-US" sz="4000" dirty="0" err="1"/>
              <a:t>sıradan</a:t>
            </a:r>
            <a:r>
              <a:rPr lang="en-US" sz="4000" dirty="0"/>
              <a:t> </a:t>
            </a:r>
            <a:r>
              <a:rPr lang="en-US" sz="4000" dirty="0" err="1"/>
              <a:t>kelimelere</a:t>
            </a:r>
            <a:r>
              <a:rPr lang="en-US" sz="4000" dirty="0"/>
              <a:t> </a:t>
            </a:r>
            <a:r>
              <a:rPr lang="en-US" sz="4000" dirty="0" err="1"/>
              <a:t>düşük</a:t>
            </a:r>
            <a:r>
              <a:rPr lang="en-US" sz="4000" dirty="0"/>
              <a:t> </a:t>
            </a:r>
            <a:r>
              <a:rPr lang="en-US" sz="4000" dirty="0" err="1"/>
              <a:t>ağırlık</a:t>
            </a:r>
            <a:r>
              <a:rPr lang="en-US" sz="4000" dirty="0"/>
              <a:t> </a:t>
            </a:r>
            <a:r>
              <a:rPr lang="en-US" sz="4000" dirty="0" err="1"/>
              <a:t>verir</a:t>
            </a:r>
            <a:r>
              <a:rPr lang="en-US" sz="4000" dirty="0"/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dirty="0" err="1"/>
              <a:t>Böylece</a:t>
            </a:r>
            <a:r>
              <a:rPr lang="en-US" sz="4000" dirty="0"/>
              <a:t> </a:t>
            </a:r>
            <a:r>
              <a:rPr lang="en-US" sz="4000" dirty="0" err="1"/>
              <a:t>belgeler</a:t>
            </a:r>
            <a:r>
              <a:rPr lang="en-US" sz="4000" dirty="0"/>
              <a:t> </a:t>
            </a:r>
            <a:r>
              <a:rPr lang="en-US" sz="4000" dirty="0" err="1"/>
              <a:t>sayısal</a:t>
            </a:r>
            <a:r>
              <a:rPr lang="en-US" sz="4000" dirty="0"/>
              <a:t> </a:t>
            </a:r>
            <a:r>
              <a:rPr lang="en-US" sz="4000" dirty="0" err="1"/>
              <a:t>vektör</a:t>
            </a:r>
            <a:r>
              <a:rPr lang="en-US" sz="4000" dirty="0"/>
              <a:t> </a:t>
            </a:r>
            <a:r>
              <a:rPr lang="en-US" sz="4000" dirty="0" err="1"/>
              <a:t>haline</a:t>
            </a:r>
            <a:r>
              <a:rPr lang="en-US" sz="4000" dirty="0"/>
              <a:t> </a:t>
            </a:r>
            <a:r>
              <a:rPr lang="en-US" sz="4000" dirty="0" err="1"/>
              <a:t>gelir</a:t>
            </a:r>
            <a:r>
              <a:rPr lang="en-US" sz="4000" dirty="0"/>
              <a:t>.</a:t>
            </a:r>
            <a:endParaRPr lang="tr-TR" sz="40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40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4800" b="1" dirty="0"/>
              <a:t>N-gram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dirty="0"/>
              <a:t>Tek </a:t>
            </a:r>
            <a:r>
              <a:rPr lang="en-US" sz="4000" dirty="0" err="1"/>
              <a:t>kelime</a:t>
            </a:r>
            <a:r>
              <a:rPr lang="en-US" sz="4000" dirty="0"/>
              <a:t> (unigram), </a:t>
            </a:r>
            <a:r>
              <a:rPr lang="en-US" sz="4000" dirty="0" err="1"/>
              <a:t>ikili</a:t>
            </a:r>
            <a:r>
              <a:rPr lang="en-US" sz="4000" dirty="0"/>
              <a:t> </a:t>
            </a:r>
            <a:r>
              <a:rPr lang="en-US" sz="4000" dirty="0" err="1"/>
              <a:t>kelime</a:t>
            </a:r>
            <a:r>
              <a:rPr lang="en-US" sz="4000" dirty="0"/>
              <a:t> </a:t>
            </a:r>
            <a:r>
              <a:rPr lang="en-US" sz="4000" dirty="0" err="1"/>
              <a:t>grubu</a:t>
            </a:r>
            <a:r>
              <a:rPr lang="en-US" sz="4000" dirty="0"/>
              <a:t> (bigram) </a:t>
            </a:r>
            <a:r>
              <a:rPr lang="en-US" sz="4000" dirty="0" err="1"/>
              <a:t>veya</a:t>
            </a:r>
            <a:r>
              <a:rPr lang="en-US" sz="4000" dirty="0"/>
              <a:t> </a:t>
            </a:r>
            <a:r>
              <a:rPr lang="en-US" sz="4000" dirty="0" err="1"/>
              <a:t>daha</a:t>
            </a:r>
            <a:r>
              <a:rPr lang="en-US" sz="4000" dirty="0"/>
              <a:t> </a:t>
            </a:r>
            <a:r>
              <a:rPr lang="en-US" sz="4000" dirty="0" err="1"/>
              <a:t>uzun</a:t>
            </a:r>
            <a:r>
              <a:rPr lang="en-US" sz="4000" dirty="0"/>
              <a:t> </a:t>
            </a:r>
            <a:r>
              <a:rPr lang="en-US" sz="4000" dirty="0" err="1"/>
              <a:t>kelime</a:t>
            </a:r>
            <a:r>
              <a:rPr lang="en-US" sz="4000" dirty="0"/>
              <a:t> </a:t>
            </a:r>
            <a:r>
              <a:rPr lang="en-US" sz="4000" dirty="0" err="1"/>
              <a:t>dizileri</a:t>
            </a:r>
            <a:r>
              <a:rPr lang="en-US" sz="4000" dirty="0"/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dirty="0"/>
              <a:t>“</a:t>
            </a:r>
            <a:r>
              <a:rPr lang="en-US" sz="4000" dirty="0" err="1"/>
              <a:t>Bilim</a:t>
            </a:r>
            <a:r>
              <a:rPr lang="en-US" sz="4000" dirty="0"/>
              <a:t>” </a:t>
            </a:r>
            <a:r>
              <a:rPr lang="en-US" sz="4000" dirty="0" err="1"/>
              <a:t>ve</a:t>
            </a:r>
            <a:r>
              <a:rPr lang="en-US" sz="4000" dirty="0"/>
              <a:t> “</a:t>
            </a:r>
            <a:r>
              <a:rPr lang="en-US" sz="4000" dirty="0" err="1"/>
              <a:t>yapay</a:t>
            </a:r>
            <a:r>
              <a:rPr lang="en-US" sz="4000" dirty="0"/>
              <a:t> </a:t>
            </a:r>
            <a:r>
              <a:rPr lang="en-US" sz="4000" dirty="0" err="1"/>
              <a:t>zeka</a:t>
            </a:r>
            <a:r>
              <a:rPr lang="en-US" sz="4000" dirty="0"/>
              <a:t>” </a:t>
            </a:r>
            <a:r>
              <a:rPr lang="en-US" sz="4000" dirty="0" err="1"/>
              <a:t>gibi</a:t>
            </a:r>
            <a:r>
              <a:rPr lang="en-US" sz="4000" dirty="0"/>
              <a:t> </a:t>
            </a:r>
            <a:r>
              <a:rPr lang="en-US" sz="4000" dirty="0" err="1"/>
              <a:t>çok</a:t>
            </a:r>
            <a:r>
              <a:rPr lang="en-US" sz="4000" dirty="0"/>
              <a:t> </a:t>
            </a:r>
            <a:r>
              <a:rPr lang="en-US" sz="4000" dirty="0" err="1"/>
              <a:t>kelimeli</a:t>
            </a:r>
            <a:r>
              <a:rPr lang="en-US" sz="4000" dirty="0"/>
              <a:t> </a:t>
            </a:r>
            <a:r>
              <a:rPr lang="en-US" sz="4000" dirty="0" err="1"/>
              <a:t>yapıları</a:t>
            </a:r>
            <a:r>
              <a:rPr lang="en-US" sz="4000" dirty="0"/>
              <a:t> </a:t>
            </a:r>
            <a:r>
              <a:rPr lang="en-US" sz="4000" dirty="0" err="1"/>
              <a:t>yakalar</a:t>
            </a:r>
            <a:r>
              <a:rPr lang="en-US" sz="4000" dirty="0"/>
              <a:t>.</a:t>
            </a:r>
            <a:endParaRPr lang="tr-TR" sz="40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tr-TR" sz="40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tr-TR" sz="4800" b="1" dirty="0"/>
              <a:t>T</a:t>
            </a:r>
            <a:r>
              <a:rPr lang="en-GB" sz="4800" b="1" dirty="0" err="1"/>
              <a:t>okenizasyon</a:t>
            </a:r>
            <a:r>
              <a:rPr lang="en-GB" sz="4800" b="1" dirty="0"/>
              <a:t> </a:t>
            </a:r>
            <a:r>
              <a:rPr lang="en-GB" sz="4800" b="1" dirty="0" err="1"/>
              <a:t>ve</a:t>
            </a:r>
            <a:r>
              <a:rPr lang="en-GB" sz="4800" b="1" dirty="0"/>
              <a:t> </a:t>
            </a:r>
            <a:r>
              <a:rPr lang="tr-TR" sz="4800" b="1" dirty="0"/>
              <a:t>C</a:t>
            </a:r>
            <a:r>
              <a:rPr lang="en-GB" sz="4800" b="1" dirty="0" err="1"/>
              <a:t>ontextural</a:t>
            </a:r>
            <a:r>
              <a:rPr lang="tr-TR" sz="4800" b="1" dirty="0"/>
              <a:t> Analiz</a:t>
            </a:r>
            <a:endParaRPr lang="tr-TR" sz="40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dirty="0"/>
              <a:t>Bert </a:t>
            </a:r>
            <a:r>
              <a:rPr lang="en-US" sz="4000" dirty="0" err="1"/>
              <a:t>ve</a:t>
            </a:r>
            <a:r>
              <a:rPr lang="en-US" sz="4000" dirty="0"/>
              <a:t> </a:t>
            </a:r>
            <a:r>
              <a:rPr lang="en-US" sz="4000" dirty="0" err="1"/>
              <a:t>türevleri</a:t>
            </a:r>
            <a:r>
              <a:rPr lang="en-US" sz="4000" dirty="0"/>
              <a:t> </a:t>
            </a:r>
            <a:r>
              <a:rPr lang="en-US" sz="4000" dirty="0" err="1"/>
              <a:t>için</a:t>
            </a:r>
            <a:r>
              <a:rPr lang="en-US" sz="4000" dirty="0"/>
              <a:t> </a:t>
            </a:r>
            <a:r>
              <a:rPr lang="en-US" sz="4000" dirty="0" err="1"/>
              <a:t>tasarlanmış</a:t>
            </a:r>
            <a:r>
              <a:rPr lang="en-US" sz="4000" dirty="0"/>
              <a:t> </a:t>
            </a:r>
            <a:r>
              <a:rPr lang="en-US" sz="4000" dirty="0" err="1"/>
              <a:t>ön</a:t>
            </a:r>
            <a:r>
              <a:rPr lang="en-US" sz="4000" dirty="0"/>
              <a:t> </a:t>
            </a:r>
            <a:r>
              <a:rPr lang="en-US" sz="4000" dirty="0" err="1"/>
              <a:t>işleme</a:t>
            </a:r>
            <a:r>
              <a:rPr lang="en-US" sz="4000" dirty="0"/>
              <a:t> </a:t>
            </a:r>
            <a:r>
              <a:rPr lang="en-US" sz="4000" dirty="0" err="1"/>
              <a:t>ve</a:t>
            </a:r>
            <a:r>
              <a:rPr lang="en-US" sz="4000" dirty="0"/>
              <a:t> </a:t>
            </a:r>
            <a:r>
              <a:rPr lang="en-US" sz="4000" dirty="0" err="1"/>
              <a:t>özellik</a:t>
            </a:r>
            <a:r>
              <a:rPr lang="en-US" sz="4000" dirty="0"/>
              <a:t> </a:t>
            </a:r>
            <a:r>
              <a:rPr lang="en-US" sz="4000" dirty="0" err="1"/>
              <a:t>çıkarma</a:t>
            </a:r>
            <a:r>
              <a:rPr lang="en-US" sz="4000" dirty="0"/>
              <a:t> </a:t>
            </a:r>
            <a:r>
              <a:rPr lang="en-US" sz="4000" dirty="0" err="1"/>
              <a:t>yöntemidir</a:t>
            </a:r>
            <a:r>
              <a:rPr lang="en-US" sz="4000" dirty="0"/>
              <a:t>.</a:t>
            </a:r>
            <a:endParaRPr lang="tr-TR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latin typeface="DejaVu Sans"/>
              </a:defRPr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Ablasyon &amp; Ek Deneyler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DejaVu Sans"/>
              </a:defRPr>
            </a:pP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Word2Vec/</a:t>
            </a:r>
            <a:r>
              <a:rPr lang="en-US" sz="3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FastText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3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GloVe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denemeleri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TF-IDF </a:t>
            </a:r>
            <a:r>
              <a:rPr lang="en-US" sz="3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transformerlar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daha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başarılı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bulundu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630053-A4A4-8C81-18DA-8F735DA52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296987-48B6-B7DC-A223-E6C1FC37FF80}"/>
              </a:ext>
            </a:extLst>
          </p:cNvPr>
          <p:cNvSpPr txBox="1"/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r" defTabSz="91440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 sz="3200" b="1">
                <a:latin typeface="DejaVu Sans"/>
              </a:defRPr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Hiperparametreler &amp; Eğitim Protokolleri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DBFFDE-2558-1D9E-3F9E-CAD3742A5949}"/>
              </a:ext>
            </a:extLst>
          </p:cNvPr>
          <p:cNvSpPr txBox="1"/>
          <p:nvPr/>
        </p:nvSpPr>
        <p:spPr>
          <a:xfrm>
            <a:off x="5588347" y="10141"/>
            <a:ext cx="6602887" cy="6847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3200" b="1" dirty="0"/>
              <a:t>Epoch</a:t>
            </a:r>
            <a:endParaRPr lang="en-US" sz="32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Modelin</a:t>
            </a:r>
            <a:r>
              <a:rPr lang="en-US" dirty="0"/>
              <a:t> </a:t>
            </a:r>
            <a:r>
              <a:rPr lang="en-US" dirty="0" err="1"/>
              <a:t>eğitim</a:t>
            </a:r>
            <a:r>
              <a:rPr lang="en-US" dirty="0"/>
              <a:t> </a:t>
            </a:r>
            <a:r>
              <a:rPr lang="en-US" dirty="0" err="1"/>
              <a:t>verisinin</a:t>
            </a:r>
            <a:r>
              <a:rPr lang="en-US" dirty="0"/>
              <a:t> </a:t>
            </a:r>
            <a:r>
              <a:rPr lang="en-US" dirty="0" err="1"/>
              <a:t>tamamını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kez</a:t>
            </a:r>
            <a:r>
              <a:rPr lang="en-US" dirty="0"/>
              <a:t> </a:t>
            </a:r>
            <a:r>
              <a:rPr lang="en-US" dirty="0" err="1"/>
              <a:t>görmesi</a:t>
            </a:r>
            <a:r>
              <a:rPr lang="en-US" dirty="0"/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Birden </a:t>
            </a:r>
            <a:r>
              <a:rPr lang="en-US" dirty="0" err="1"/>
              <a:t>fazla</a:t>
            </a:r>
            <a:r>
              <a:rPr lang="en-US" dirty="0"/>
              <a:t> epoch </a:t>
            </a:r>
            <a:r>
              <a:rPr lang="en-US" dirty="0" err="1"/>
              <a:t>boyunca</a:t>
            </a:r>
            <a:r>
              <a:rPr lang="en-US" dirty="0"/>
              <a:t> </a:t>
            </a:r>
            <a:r>
              <a:rPr lang="en-US" dirty="0" err="1"/>
              <a:t>öğrenme</a:t>
            </a:r>
            <a:r>
              <a:rPr lang="en-US" dirty="0"/>
              <a:t> </a:t>
            </a:r>
            <a:r>
              <a:rPr lang="en-US" dirty="0" err="1"/>
              <a:t>devam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3200" b="1" dirty="0" err="1"/>
              <a:t>EarlyStopping</a:t>
            </a:r>
            <a:endParaRPr lang="en-US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Modelin</a:t>
            </a:r>
            <a:r>
              <a:rPr lang="en-US" dirty="0"/>
              <a:t> </a:t>
            </a:r>
            <a:r>
              <a:rPr lang="en-US" dirty="0" err="1"/>
              <a:t>doğrulama</a:t>
            </a:r>
            <a:r>
              <a:rPr lang="en-US" dirty="0"/>
              <a:t> </a:t>
            </a:r>
            <a:r>
              <a:rPr lang="en-US" dirty="0" err="1"/>
              <a:t>hatası</a:t>
            </a:r>
            <a:r>
              <a:rPr lang="en-US" dirty="0"/>
              <a:t> (</a:t>
            </a:r>
            <a:r>
              <a:rPr lang="en-US" dirty="0" err="1"/>
              <a:t>val</a:t>
            </a:r>
            <a:r>
              <a:rPr lang="en-US" dirty="0"/>
              <a:t> loss) </a:t>
            </a:r>
            <a:r>
              <a:rPr lang="en-US" dirty="0" err="1"/>
              <a:t>iyileşmezse</a:t>
            </a:r>
            <a:r>
              <a:rPr lang="en-US" dirty="0"/>
              <a:t> </a:t>
            </a:r>
            <a:r>
              <a:rPr lang="en-US" dirty="0" err="1"/>
              <a:t>eğitimi</a:t>
            </a:r>
            <a:r>
              <a:rPr lang="en-US" dirty="0"/>
              <a:t> </a:t>
            </a:r>
            <a:r>
              <a:rPr lang="en-US" dirty="0" err="1"/>
              <a:t>erken</a:t>
            </a:r>
            <a:r>
              <a:rPr lang="en-US" dirty="0"/>
              <a:t> </a:t>
            </a:r>
            <a:r>
              <a:rPr lang="en-US" dirty="0" err="1"/>
              <a:t>durdurur</a:t>
            </a:r>
            <a:r>
              <a:rPr lang="en-US" dirty="0"/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Gereksiz</a:t>
            </a:r>
            <a:r>
              <a:rPr lang="en-US" dirty="0"/>
              <a:t> </a:t>
            </a:r>
            <a:r>
              <a:rPr lang="en-US" dirty="0" err="1"/>
              <a:t>uzun</a:t>
            </a:r>
            <a:r>
              <a:rPr lang="en-US" dirty="0"/>
              <a:t> </a:t>
            </a:r>
            <a:r>
              <a:rPr lang="en-US" dirty="0" err="1"/>
              <a:t>eğitimden</a:t>
            </a:r>
            <a:r>
              <a:rPr lang="en-US" dirty="0"/>
              <a:t> </a:t>
            </a:r>
            <a:r>
              <a:rPr lang="en-US" dirty="0" err="1"/>
              <a:t>kaçınılır</a:t>
            </a:r>
            <a:r>
              <a:rPr lang="en-US" dirty="0"/>
              <a:t>, </a:t>
            </a:r>
            <a:r>
              <a:rPr lang="en-US" dirty="0" err="1"/>
              <a:t>aşırı</a:t>
            </a:r>
            <a:r>
              <a:rPr lang="en-US" dirty="0"/>
              <a:t> </a:t>
            </a:r>
            <a:r>
              <a:rPr lang="en-US" dirty="0" err="1"/>
              <a:t>öğrenme</a:t>
            </a:r>
            <a:r>
              <a:rPr lang="en-US" dirty="0"/>
              <a:t> (overfitting) </a:t>
            </a:r>
            <a:r>
              <a:rPr lang="en-US" dirty="0" err="1"/>
              <a:t>engellenir</a:t>
            </a:r>
            <a:r>
              <a:rPr lang="en-US" dirty="0"/>
              <a:t>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3200" b="1" dirty="0"/>
              <a:t>Learning Rate (</a:t>
            </a:r>
            <a:r>
              <a:rPr lang="en-US" sz="3200" b="1" dirty="0" err="1"/>
              <a:t>lr</a:t>
            </a:r>
            <a:r>
              <a:rPr lang="en-US" sz="3200" b="1" dirty="0"/>
              <a:t>)</a:t>
            </a:r>
            <a:endParaRPr lang="en-US" sz="32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Modelin</a:t>
            </a:r>
            <a:r>
              <a:rPr lang="en-US" dirty="0"/>
              <a:t> her </a:t>
            </a:r>
            <a:r>
              <a:rPr lang="en-US" dirty="0" err="1"/>
              <a:t>adımda</a:t>
            </a:r>
            <a:r>
              <a:rPr lang="en-US" dirty="0"/>
              <a:t> ne </a:t>
            </a:r>
            <a:r>
              <a:rPr lang="en-US" dirty="0" err="1"/>
              <a:t>kadar</a:t>
            </a:r>
            <a:r>
              <a:rPr lang="en-US" dirty="0"/>
              <a:t> “</a:t>
            </a:r>
            <a:r>
              <a:rPr lang="en-US" dirty="0" err="1"/>
              <a:t>öğrendiğini</a:t>
            </a:r>
            <a:r>
              <a:rPr lang="en-US" dirty="0"/>
              <a:t>” </a:t>
            </a:r>
            <a:r>
              <a:rPr lang="en-US" dirty="0" err="1"/>
              <a:t>belirleyen</a:t>
            </a:r>
            <a:r>
              <a:rPr lang="en-US" dirty="0"/>
              <a:t> </a:t>
            </a:r>
            <a:r>
              <a:rPr lang="en-US" dirty="0" err="1"/>
              <a:t>hız</a:t>
            </a:r>
            <a:r>
              <a:rPr lang="en-US" dirty="0"/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olursa</a:t>
            </a:r>
            <a:r>
              <a:rPr lang="en-US" dirty="0"/>
              <a:t> </a:t>
            </a:r>
            <a:r>
              <a:rPr lang="en-US" dirty="0" err="1"/>
              <a:t>öğrenme</a:t>
            </a:r>
            <a:r>
              <a:rPr lang="en-US" dirty="0"/>
              <a:t> </a:t>
            </a:r>
            <a:r>
              <a:rPr lang="en-US" dirty="0" err="1"/>
              <a:t>dengesiz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,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küçük</a:t>
            </a:r>
            <a:r>
              <a:rPr lang="en-US" dirty="0"/>
              <a:t> </a:t>
            </a:r>
            <a:r>
              <a:rPr lang="en-US" dirty="0" err="1"/>
              <a:t>olursa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yavaş</a:t>
            </a:r>
            <a:r>
              <a:rPr lang="en-US" dirty="0"/>
              <a:t> </a:t>
            </a:r>
            <a:r>
              <a:rPr lang="en-US" dirty="0" err="1"/>
              <a:t>ilerler</a:t>
            </a:r>
            <a:r>
              <a:rPr lang="en-US" dirty="0"/>
              <a:t>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3200" b="1" dirty="0"/>
              <a:t>Batch</a:t>
            </a:r>
            <a:r>
              <a:rPr lang="en-US" b="1" dirty="0"/>
              <a:t> </a:t>
            </a:r>
            <a:r>
              <a:rPr lang="en-US" sz="3200" b="1" dirty="0"/>
              <a:t>Size</a:t>
            </a:r>
            <a:endParaRPr lang="en-US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Verilerin</a:t>
            </a:r>
            <a:r>
              <a:rPr lang="en-US" dirty="0"/>
              <a:t> </a:t>
            </a:r>
            <a:r>
              <a:rPr lang="en-US" dirty="0" err="1"/>
              <a:t>küçük</a:t>
            </a:r>
            <a:r>
              <a:rPr lang="en-US" dirty="0"/>
              <a:t> </a:t>
            </a:r>
            <a:r>
              <a:rPr lang="en-US" dirty="0" err="1"/>
              <a:t>gruplar</a:t>
            </a:r>
            <a:r>
              <a:rPr lang="en-US" dirty="0"/>
              <a:t> </a:t>
            </a:r>
            <a:r>
              <a:rPr lang="en-US" dirty="0" err="1"/>
              <a:t>halinde</a:t>
            </a:r>
            <a:r>
              <a:rPr lang="en-US" dirty="0"/>
              <a:t> </a:t>
            </a:r>
            <a:r>
              <a:rPr lang="en-US" dirty="0" err="1"/>
              <a:t>işlenmesi</a:t>
            </a:r>
            <a:r>
              <a:rPr lang="en-US" dirty="0"/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Daha </a:t>
            </a:r>
            <a:r>
              <a:rPr lang="en-US" dirty="0" err="1"/>
              <a:t>küçük</a:t>
            </a:r>
            <a:r>
              <a:rPr lang="en-US" dirty="0"/>
              <a:t> batch →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dengeli</a:t>
            </a:r>
            <a:r>
              <a:rPr lang="en-US" dirty="0"/>
              <a:t> ama </a:t>
            </a:r>
            <a:r>
              <a:rPr lang="en-US" dirty="0" err="1"/>
              <a:t>yavaş</a:t>
            </a:r>
            <a:r>
              <a:rPr lang="en-US" dirty="0"/>
              <a:t> </a:t>
            </a:r>
            <a:r>
              <a:rPr lang="en-US" dirty="0" err="1"/>
              <a:t>öğrenme</a:t>
            </a:r>
            <a:r>
              <a:rPr lang="en-US" dirty="0"/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Daha </a:t>
            </a:r>
            <a:r>
              <a:rPr lang="en-US" dirty="0" err="1"/>
              <a:t>büyük</a:t>
            </a:r>
            <a:r>
              <a:rPr lang="en-US" dirty="0"/>
              <a:t> batch → </a:t>
            </a:r>
            <a:r>
              <a:rPr lang="en-US" dirty="0" err="1"/>
              <a:t>hızlı</a:t>
            </a:r>
            <a:r>
              <a:rPr lang="en-US" dirty="0"/>
              <a:t> ama </a:t>
            </a:r>
            <a:r>
              <a:rPr lang="en-US" dirty="0" err="1"/>
              <a:t>bellek</a:t>
            </a:r>
            <a:r>
              <a:rPr lang="en-US" dirty="0"/>
              <a:t> </a:t>
            </a:r>
            <a:r>
              <a:rPr lang="en-US" dirty="0" err="1"/>
              <a:t>ihtiyacı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3200" b="1" dirty="0"/>
              <a:t>Max</a:t>
            </a:r>
            <a:r>
              <a:rPr lang="en-US" b="1" dirty="0"/>
              <a:t> </a:t>
            </a:r>
            <a:r>
              <a:rPr lang="en-US" sz="3200" b="1" dirty="0"/>
              <a:t>Length (</a:t>
            </a:r>
            <a:r>
              <a:rPr lang="en-US" sz="3200" b="1" dirty="0" err="1"/>
              <a:t>max_len</a:t>
            </a:r>
            <a:r>
              <a:rPr lang="en-US" sz="3200" b="1" dirty="0"/>
              <a:t>)</a:t>
            </a:r>
            <a:endParaRPr lang="en-US" sz="32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Metinlerde</a:t>
            </a:r>
            <a:r>
              <a:rPr lang="en-US" dirty="0"/>
              <a:t> </a:t>
            </a:r>
            <a:r>
              <a:rPr lang="en-US" dirty="0" err="1"/>
              <a:t>kullanılacak</a:t>
            </a:r>
            <a:r>
              <a:rPr lang="en-US" dirty="0"/>
              <a:t> </a:t>
            </a:r>
            <a:r>
              <a:rPr lang="en-US" dirty="0" err="1"/>
              <a:t>maksimum</a:t>
            </a:r>
            <a:r>
              <a:rPr lang="en-US" dirty="0"/>
              <a:t> </a:t>
            </a:r>
            <a:r>
              <a:rPr lang="en-US" dirty="0" err="1"/>
              <a:t>uzunluk</a:t>
            </a:r>
            <a:r>
              <a:rPr lang="en-US" dirty="0"/>
              <a:t> (</a:t>
            </a:r>
            <a:r>
              <a:rPr lang="en-US" dirty="0" err="1"/>
              <a:t>kelime</a:t>
            </a:r>
            <a:r>
              <a:rPr lang="en-US" dirty="0"/>
              <a:t>/alt </a:t>
            </a:r>
            <a:r>
              <a:rPr lang="en-US" dirty="0" err="1"/>
              <a:t>kelime</a:t>
            </a:r>
            <a:r>
              <a:rPr lang="en-US" dirty="0"/>
              <a:t> </a:t>
            </a:r>
            <a:r>
              <a:rPr lang="en-US" dirty="0" err="1"/>
              <a:t>sayısı</a:t>
            </a:r>
            <a:r>
              <a:rPr lang="en-US" dirty="0"/>
              <a:t>).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Daha </a:t>
            </a:r>
            <a:r>
              <a:rPr lang="en-US" dirty="0" err="1"/>
              <a:t>uzun</a:t>
            </a:r>
            <a:r>
              <a:rPr lang="en-US" dirty="0"/>
              <a:t> →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fazla</a:t>
            </a:r>
            <a:r>
              <a:rPr lang="en-US" dirty="0"/>
              <a:t> </a:t>
            </a:r>
            <a:r>
              <a:rPr lang="en-US" dirty="0" err="1"/>
              <a:t>bilgi</a:t>
            </a:r>
            <a:r>
              <a:rPr lang="en-US" dirty="0"/>
              <a:t>, ama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hesaplama</a:t>
            </a:r>
            <a:r>
              <a:rPr lang="en-US" dirty="0"/>
              <a:t> </a:t>
            </a:r>
            <a:r>
              <a:rPr lang="en-US" dirty="0" err="1"/>
              <a:t>yükü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1626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latin typeface="DejaVu Sans"/>
              </a:defRPr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Hiperparametreler &amp; Eğitim Protokolleri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DejaVu Sans"/>
              </a:defRPr>
            </a:pP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BERT: epochs 3–8 (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EarlyStopping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≈ 1e-5, batch 32,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max_len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256–384.</a:t>
            </a:r>
            <a:endParaRPr lang="tr-TR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>
                <a:latin typeface="DejaVu Sans"/>
              </a:defRPr>
            </a:pPr>
            <a:endPara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DejaVu Sans"/>
              </a:defRPr>
            </a:pP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Klasikler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TF-IDF (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ngram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=(1,2),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max_df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=0.75), SVM linear, RF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özet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parametre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latin typeface="DejaVu Sans"/>
              </a:defRPr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Deneysel Kurulum &amp; Donanım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DejaVu Sans"/>
              </a:defRPr>
            </a:pP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Donanım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örneği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tr-TR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tr-TR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CPU &amp;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NVIDIA A100 (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kodda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GPU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ölçümleri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mevcut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tr-TR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>
                <a:latin typeface="DejaVu Sans"/>
              </a:defRPr>
            </a:pPr>
            <a:endPara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DejaVu Sans"/>
              </a:defRPr>
            </a:pP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Metrikler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accuracy, precision, recall, F1 (per-class + weighted + macro),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süre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kaynak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kullanımı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latin typeface="DejaVu Sans"/>
              </a:defRPr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Değerlendirme Metrikleri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DejaVu Sans"/>
              </a:defRPr>
            </a:pPr>
            <a:r>
              <a:rPr lang="en-US" sz="3200" dirty="0"/>
              <a:t>Precision, Recall, F1 (micro/macro/weighted), Accuracy.</a:t>
            </a:r>
            <a:endParaRPr lang="tr-TR" sz="32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>
                <a:latin typeface="DejaVu Sans"/>
              </a:defRPr>
            </a:pPr>
            <a:endParaRPr lang="en-US" sz="32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DejaVu Sans"/>
              </a:defRPr>
            </a:pPr>
            <a:r>
              <a:rPr lang="en-US" sz="3200" dirty="0"/>
              <a:t>F1 </a:t>
            </a:r>
            <a:r>
              <a:rPr lang="en-US" sz="3200" dirty="0" err="1"/>
              <a:t>özellikle</a:t>
            </a:r>
            <a:r>
              <a:rPr lang="en-US" sz="3200" dirty="0"/>
              <a:t> </a:t>
            </a:r>
            <a:r>
              <a:rPr lang="en-US" sz="3200" dirty="0" err="1"/>
              <a:t>sınıf</a:t>
            </a:r>
            <a:r>
              <a:rPr lang="en-US" sz="3200" dirty="0"/>
              <a:t> </a:t>
            </a:r>
            <a:r>
              <a:rPr lang="en-US" sz="3200" dirty="0" err="1"/>
              <a:t>dengesizlikleri</a:t>
            </a:r>
            <a:r>
              <a:rPr lang="en-US" sz="3200" dirty="0"/>
              <a:t> </a:t>
            </a:r>
            <a:r>
              <a:rPr lang="en-US" sz="3200" dirty="0" err="1"/>
              <a:t>ve</a:t>
            </a:r>
            <a:r>
              <a:rPr lang="en-US" sz="3200" dirty="0"/>
              <a:t> </a:t>
            </a:r>
            <a:r>
              <a:rPr lang="en-US" sz="3200" dirty="0" err="1"/>
              <a:t>disiplinlerarası</a:t>
            </a:r>
            <a:r>
              <a:rPr lang="en-US" sz="3200" dirty="0"/>
              <a:t> </a:t>
            </a:r>
            <a:r>
              <a:rPr lang="en-US" sz="3200" dirty="0" err="1"/>
              <a:t>karışmaları</a:t>
            </a:r>
            <a:r>
              <a:rPr lang="en-US" sz="3200" dirty="0"/>
              <a:t> </a:t>
            </a:r>
            <a:r>
              <a:rPr lang="en-US" sz="3200" dirty="0" err="1"/>
              <a:t>değerlendirmek</a:t>
            </a:r>
            <a:r>
              <a:rPr lang="en-US" sz="3200" dirty="0"/>
              <a:t> </a:t>
            </a:r>
            <a:r>
              <a:rPr lang="en-US" sz="3200" dirty="0" err="1"/>
              <a:t>için</a:t>
            </a:r>
            <a:r>
              <a:rPr lang="en-US" sz="3200" dirty="0"/>
              <a:t> </a:t>
            </a:r>
            <a:r>
              <a:rPr lang="en-US" sz="3200" dirty="0" err="1"/>
              <a:t>kullanıldı</a:t>
            </a:r>
            <a:r>
              <a:rPr lang="en-US" sz="3200"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5018B3-1938-63A6-591E-151070C15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FC87AC-C919-4FE5-BAC3-39509E00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635" y="-1500"/>
            <a:ext cx="8119933" cy="6858001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0659F6-0853-468D-B1B2-44FDBE98B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272" y="-3000"/>
            <a:ext cx="12201265" cy="6859501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0"/>
            <a:ext cx="11718098" cy="6858000"/>
          </a:xfrm>
          <a:prstGeom prst="rect">
            <a:avLst/>
          </a:prstGeom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A08B22-0730-BED3-ECB8-8D4F9811A9D9}"/>
              </a:ext>
            </a:extLst>
          </p:cNvPr>
          <p:cNvSpPr txBox="1"/>
          <p:nvPr/>
        </p:nvSpPr>
        <p:spPr>
          <a:xfrm>
            <a:off x="1142639" y="561203"/>
            <a:ext cx="9932691" cy="11659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ctr" defTabSz="91440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 sz="3200" b="1">
                <a:latin typeface="DejaVu Sans"/>
              </a:defRPr>
            </a:pPr>
            <a:r>
              <a:rPr kumimoji="0" lang="en-US" sz="4800" b="1" i="0" u="none" strike="noStrike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Değerlendirme Metrikleri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77ACDD7-882D-4B81-A213-84C82B96B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2888341"/>
            <a:ext cx="12203819" cy="396815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9ACEEB7-6B18-7E04-DD67-960AD8AAD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" y="2759022"/>
            <a:ext cx="5979600" cy="396981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E7C7840-2A3F-8BDF-CB4B-7C88442BF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381" y="2760521"/>
            <a:ext cx="5755312" cy="39683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26F3A5-D6B9-DE53-B417-484CFF430442}"/>
              </a:ext>
            </a:extLst>
          </p:cNvPr>
          <p:cNvSpPr txBox="1"/>
          <p:nvPr/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latin typeface="DejaVu Sans"/>
              </a:defRPr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jaVu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4083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A605BF-C649-E922-8485-3F245EE88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84478A2-0340-7969-02EA-1E3AC238C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F5D022-9ADC-1BF0-2E57-A4A72A6FA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9502A10-0FD8-C990-FC09-92E3E2C73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5DC0751-E968-BA33-6156-EC0DBB9F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06556D3-504B-E8C1-1211-7A0C2400F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4C8255F-B713-22BA-7609-6C0895AED4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7D1F98B-F957-96E1-7459-9809114584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0AA5230-C774-2ED1-8B08-E1FD60436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985CAC1-C7C8-42AE-E6A0-3127F1F389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496B37C-6C3F-34E2-03C5-71DE209C674B}"/>
              </a:ext>
            </a:extLst>
          </p:cNvPr>
          <p:cNvSpPr txBox="1"/>
          <p:nvPr/>
        </p:nvSpPr>
        <p:spPr>
          <a:xfrm>
            <a:off x="630936" y="630936"/>
            <a:ext cx="5260992" cy="209675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3200" b="1">
                <a:latin typeface="DejaVu Sans"/>
              </a:defRPr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Primer </a:t>
            </a:r>
            <a:r>
              <a:rPr kumimoji="0" lang="en-US" sz="4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Sonuçlar</a:t>
            </a: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lang="en-US" sz="4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Klasikler</a:t>
            </a: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vs BERT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B27E4F-3452-8528-45C8-10A7BFEA66E7}"/>
              </a:ext>
            </a:extLst>
          </p:cNvPr>
          <p:cNvSpPr txBox="1"/>
          <p:nvPr/>
        </p:nvSpPr>
        <p:spPr>
          <a:xfrm>
            <a:off x="6095996" y="630936"/>
            <a:ext cx="5064191" cy="209676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 sz="2000">
                <a:latin typeface="DejaVu Sans"/>
              </a:defRPr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jaVu Sans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BDEDA8-CD13-A311-FC90-8D4CDA440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CB30501-45F7-A06A-C31C-BAA90C6B7A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2581AC2-FCA5-5BF2-FD46-F47E30EB1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7E00946-86CF-5918-DD39-24CE402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39D0C38-A0C0-E57C-270C-CD804776E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CF7514D-B37A-C90F-E319-FB46D991F5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BB0D67B5-B80E-75DA-90A4-CF0F55D5B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D19DCC5-5C76-7675-CAAF-8C56311F7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209A4D9-65CE-17DE-3366-28551B64A4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225829-DB2C-33C6-E754-520EF7C573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56DD275-3215-5BBB-A6DB-B10F1CED3C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F4E1966-AF21-20F0-EFD8-DBABCDFEE5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59DE242-BDD5-F133-DAAD-A0658C825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5716" y="3029889"/>
            <a:ext cx="304800" cy="429768"/>
            <a:chOff x="215328" y="-46937"/>
            <a:chExt cx="304800" cy="2773841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956B77F-77E8-72EF-4CB7-CA6BEFA32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28CE1ED-6DC6-DBDB-305F-C0D402052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68F3107-5997-9C9A-68C6-FDF1CB017B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90823A8-A33C-002D-1D16-454CFEAB4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D3D15860-E56D-D99E-2ECD-8926B0E94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48" y="2595461"/>
            <a:ext cx="12188952" cy="412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056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latin typeface="DejaVu Sans"/>
              </a:defRPr>
            </a:pP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Modeller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DejaVu Sans"/>
              </a:defRPr>
            </a:pPr>
            <a:r>
              <a:rPr lang="en-US" sz="2000" dirty="0" err="1"/>
              <a:t>Klasikler</a:t>
            </a:r>
            <a:r>
              <a:rPr lang="en-US" sz="2000" dirty="0"/>
              <a:t>: Naive Bayes, Random Forest, Linear SVM.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DejaVu Sans"/>
              </a:defRPr>
            </a:pPr>
            <a:r>
              <a:rPr lang="tr-TR" sz="2000" dirty="0"/>
              <a:t>DL</a:t>
            </a:r>
            <a:r>
              <a:rPr lang="en-US" sz="2000" dirty="0"/>
              <a:t>: BERT.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DejaVu Sans"/>
              </a:defRPr>
            </a:pPr>
            <a:r>
              <a:rPr lang="en-US" sz="2000" dirty="0" err="1">
                <a:highlight>
                  <a:srgbClr val="FFFF00"/>
                </a:highlight>
              </a:rPr>
              <a:t>İyileştirme</a:t>
            </a:r>
            <a:r>
              <a:rPr lang="en-US" sz="2000" dirty="0">
                <a:highlight>
                  <a:srgbClr val="FFFF00"/>
                </a:highlight>
              </a:rPr>
              <a:t>: </a:t>
            </a:r>
            <a:r>
              <a:rPr lang="en-US" sz="2000" dirty="0" err="1">
                <a:highlight>
                  <a:srgbClr val="FFFF00"/>
                </a:highlight>
              </a:rPr>
              <a:t>DistilBERT</a:t>
            </a:r>
            <a:r>
              <a:rPr lang="en-US" sz="2000" dirty="0">
                <a:highlight>
                  <a:srgbClr val="FFFF00"/>
                </a:highlight>
              </a:rPr>
              <a:t>, ALBERT, </a:t>
            </a:r>
            <a:r>
              <a:rPr lang="en-US" sz="2000" dirty="0" err="1">
                <a:highlight>
                  <a:srgbClr val="FFFF00"/>
                </a:highlight>
              </a:rPr>
              <a:t>SciBERT</a:t>
            </a:r>
            <a:r>
              <a:rPr lang="en-US" sz="2000" dirty="0">
                <a:highlight>
                  <a:srgbClr val="FFFF00"/>
                </a:highlight>
              </a:rPr>
              <a:t> + K-Fold.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4E65F23-789E-4CB9-B34F-46A85E25D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CA207F7-3B67-4EA2-8EC5-1260B55A07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D4CC450-51C3-4A41-B2B1-68A15D57C5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ED62506D-F8E8-4C55-B160-D4FE898504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6004793-0083-43B9-81A2-20F71D2C7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3D192AA-AFCB-470F-B66A-18815C352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9079B0CF-0B4C-42A9-9769-3AC0A34FA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-246423" y="8507"/>
            <a:ext cx="5260992" cy="209675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latin typeface="DejaVu Sans"/>
              </a:defRPr>
            </a:pPr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Transformer </a:t>
            </a:r>
            <a:r>
              <a:rPr lang="en-US" sz="4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Ailesi</a:t>
            </a:r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Karşılaştırması</a:t>
            </a: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5996" y="630936"/>
            <a:ext cx="5064191" cy="209676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2000">
                <a:latin typeface="DejaVu Sans"/>
              </a:defRPr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 descr="model_f1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5" y="1815896"/>
            <a:ext cx="11349684" cy="5050611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4043ADFC-DC2E-40D2-954D-4A13B908D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5716" y="3029889"/>
            <a:ext cx="304800" cy="429768"/>
            <a:chOff x="215328" y="-46937"/>
            <a:chExt cx="304800" cy="2773841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975E7D3-10F5-4E53-902F-9E79C98C2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DC51AAB-5A3B-4730-B8AC-46C96AC0B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3A6F2D9-1476-4E35-988D-D4CCB15C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E17F678-D5C6-49BF-933D-1E65F69B3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B4F1EF-E35C-6E2A-20FF-33F048FA3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15BF53A3-6880-B918-0912-45703B9B7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C8CE133-2932-F842-6BA2-638B9E51D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037EAB7-9A1D-6390-E79C-F89D0B965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66AB84A-58F3-8CF4-3349-88C8ECC664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D69390F-06E7-B0E0-A9B8-2C8EB8876F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CB609C43-D8E7-454A-5173-9D33B5BFB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0D260B83-CAC0-0422-4FD3-4EE1E65C1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F8FC7682-70DD-4439-5E4D-31AE8C469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269E242E-8B3E-0B4E-6C3B-39B94D98DA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50294CC-DEFA-27B9-C264-B76DB943AC75}"/>
              </a:ext>
            </a:extLst>
          </p:cNvPr>
          <p:cNvSpPr txBox="1"/>
          <p:nvPr/>
        </p:nvSpPr>
        <p:spPr>
          <a:xfrm>
            <a:off x="630936" y="630936"/>
            <a:ext cx="5260992" cy="209675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3200" b="1">
                <a:latin typeface="DejaVu Sans"/>
              </a:defRPr>
            </a:pPr>
            <a:r>
              <a:rPr kumimoji="0" lang="en-US" sz="4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Transformer Ailesi Karşılaştırması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9071F8-92A4-66AD-C536-0185D4D328F4}"/>
              </a:ext>
            </a:extLst>
          </p:cNvPr>
          <p:cNvSpPr txBox="1"/>
          <p:nvPr/>
        </p:nvSpPr>
        <p:spPr>
          <a:xfrm>
            <a:off x="5601689" y="773189"/>
            <a:ext cx="6685283" cy="209676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latin typeface="DejaVu Sans"/>
              </a:defRPr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DistilBERT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daha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hafif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) — F1 89.6%.</a:t>
            </a: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latin typeface="DejaVu Sans"/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ALBERT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— F1 88.9% (param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paylaşımı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).</a:t>
            </a: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latin typeface="DejaVu Sans"/>
              </a:defRPr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SciBERT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+ 5-fold —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en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iyi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sonuç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örn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jaVu Sans"/>
                <a:ea typeface="+mn-ea"/>
                <a:cs typeface="+mn-cs"/>
              </a:rPr>
              <a:t>. 92% F1).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1AF9C5C-15D6-3CFB-B967-357CF596E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7215975-0A29-A1C3-83B5-EFFB8E053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19431A1-17D9-DDEE-241C-AA1E1D913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1E72CFC-6EF2-E6AE-208E-5F0A3800E7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613E773-E325-72CD-8EA0-349C6F4BC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9EDC6EB-F3F2-32B8-89DE-605D005EBC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FB694063-2B43-B50E-9579-04B448366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EEE3E53-403A-5687-1B91-460453DEE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3291B0A-B1AE-B425-EE4F-F8D1D81CDF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5759FC1-ACB2-DD9E-F887-CBF6BE8CBC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FC9DCAD-EB2D-99A5-1A32-9DC5E2054F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6BBD0EA-24C9-10CD-6CF0-E1322E6936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7E86B4E-918A-0729-D4C4-5CD1BD56E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5716" y="3029889"/>
            <a:ext cx="304800" cy="429768"/>
            <a:chOff x="215328" y="-46937"/>
            <a:chExt cx="304800" cy="2773841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43E3B93-8D89-30D7-BC62-554CCA06D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DADF7CB-964E-1527-1E42-7243E7EA25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FF1238F-3CDE-DA2F-51D6-DA69B54AE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90E4088-6E45-293C-2A4E-2778BCE138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A308FA9-B244-C7FD-6638-6EAB0295E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9" y="2022738"/>
            <a:ext cx="12188952" cy="484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049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latin typeface="DejaVu Sans"/>
              </a:defRPr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K-Fold Sonuçları &amp; Metodolojik Notlar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2000">
                <a:latin typeface="DejaVu Sans"/>
              </a:defRPr>
            </a:pPr>
            <a:endParaRPr 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DejaVu Sans"/>
              </a:defRPr>
            </a:pPr>
            <a:r>
              <a:rPr lang="tr-TR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Klasik ML yöntemler ve Bert için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karşılaştırmaları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sabit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%80/%20 split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ile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korunmuştur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K-Fold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iyileştirme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amacıyla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takip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eden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adımlarda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uygulanmıştır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57200" y="138513"/>
            <a:ext cx="3043084" cy="25751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latin typeface="DejaVu Sans"/>
              </a:defRPr>
            </a:pP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Confusion Matrix (Örnek </a:t>
            </a:r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Isı</a:t>
            </a: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Haritası</a:t>
            </a: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2294" y="2847668"/>
            <a:ext cx="2601168" cy="365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DejaVu Sans"/>
              </a:defRPr>
            </a:pPr>
            <a:r>
              <a:rPr lang="en-US" sz="2800" dirty="0" err="1"/>
              <a:t>SciBERT</a:t>
            </a:r>
            <a:r>
              <a:rPr lang="en-US" sz="2800" dirty="0"/>
              <a:t> </a:t>
            </a:r>
            <a:r>
              <a:rPr lang="en-US" sz="2800" dirty="0" err="1"/>
              <a:t>için</a:t>
            </a:r>
            <a:r>
              <a:rPr lang="en-US" sz="2800" dirty="0"/>
              <a:t> </a:t>
            </a:r>
            <a:r>
              <a:rPr lang="en-US" sz="2800" dirty="0" err="1"/>
              <a:t>tipik</a:t>
            </a:r>
            <a:r>
              <a:rPr lang="en-US" sz="2800" dirty="0"/>
              <a:t> </a:t>
            </a:r>
            <a:r>
              <a:rPr lang="en-US" sz="2800" dirty="0" err="1"/>
              <a:t>karışma</a:t>
            </a:r>
            <a:r>
              <a:rPr lang="en-US" sz="2800" dirty="0"/>
              <a:t> </a:t>
            </a:r>
            <a:r>
              <a:rPr lang="en-US" sz="2800" dirty="0" err="1"/>
              <a:t>desenleri</a:t>
            </a:r>
            <a:r>
              <a:rPr lang="en-US" sz="2800" dirty="0"/>
              <a:t>: Medicine ↔ Neurosciences </a:t>
            </a:r>
            <a:r>
              <a:rPr lang="en-US" sz="2800" dirty="0" err="1"/>
              <a:t>gibi</a:t>
            </a:r>
            <a:r>
              <a:rPr lang="en-US" sz="2800" dirty="0"/>
              <a:t> </a:t>
            </a:r>
            <a:r>
              <a:rPr lang="en-US" sz="2800" dirty="0" err="1"/>
              <a:t>disiplinler</a:t>
            </a:r>
            <a:r>
              <a:rPr lang="en-US" sz="2800" dirty="0"/>
              <a:t> </a:t>
            </a:r>
            <a:r>
              <a:rPr lang="en-US" sz="2800" dirty="0" err="1"/>
              <a:t>arası</a:t>
            </a:r>
            <a:r>
              <a:rPr lang="en-US" sz="2800" dirty="0"/>
              <a:t> </a:t>
            </a:r>
            <a:r>
              <a:rPr lang="en-US" sz="2800" dirty="0" err="1"/>
              <a:t>örtüşmeler</a:t>
            </a:r>
            <a:r>
              <a:rPr lang="en-US" sz="2800" dirty="0"/>
              <a:t> </a:t>
            </a:r>
            <a:r>
              <a:rPr lang="en-US" sz="2800" dirty="0" err="1"/>
              <a:t>görüldü</a:t>
            </a:r>
            <a:r>
              <a:rPr lang="en-US" sz="2800" dirty="0"/>
              <a:t>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graph with blue squares and white text&#10;&#10;AI-generated content may be incorrect.">
            <a:extLst>
              <a:ext uri="{FF2B5EF4-FFF2-40B4-BE49-F238E27FC236}">
                <a16:creationId xmlns:a16="http://schemas.microsoft.com/office/drawing/2014/main" id="{BC6997B5-7420-0FE9-3D7D-652AB630C5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8556" y="0"/>
            <a:ext cx="8883444" cy="6857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D79477-87BE-1125-6DC5-8CCB637E6632}"/>
              </a:ext>
            </a:extLst>
          </p:cNvPr>
          <p:cNvSpPr txBox="1"/>
          <p:nvPr/>
        </p:nvSpPr>
        <p:spPr>
          <a:xfrm>
            <a:off x="4078609" y="491086"/>
            <a:ext cx="8151117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3600" b="1" dirty="0"/>
              <a:t>Hata </a:t>
            </a:r>
            <a:r>
              <a:rPr lang="en-US" sz="3600" b="1" dirty="0" err="1"/>
              <a:t>Analizi</a:t>
            </a:r>
            <a:r>
              <a:rPr lang="en-US" sz="3600" b="1" dirty="0"/>
              <a:t> (Error Analysis)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Yapılan</a:t>
            </a:r>
            <a:r>
              <a:rPr lang="en-US" dirty="0"/>
              <a:t> </a:t>
            </a:r>
            <a:r>
              <a:rPr lang="en-US" dirty="0" err="1"/>
              <a:t>sınıflandırma</a:t>
            </a:r>
            <a:r>
              <a:rPr lang="en-US" dirty="0"/>
              <a:t> </a:t>
            </a:r>
            <a:r>
              <a:rPr lang="en-US" dirty="0" err="1"/>
              <a:t>deneylerinde</a:t>
            </a:r>
            <a:r>
              <a:rPr lang="en-US" dirty="0"/>
              <a:t>, 12 </a:t>
            </a:r>
            <a:r>
              <a:rPr lang="en-US" dirty="0" err="1"/>
              <a:t>kategori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sık</a:t>
            </a:r>
            <a:r>
              <a:rPr lang="en-US" dirty="0"/>
              <a:t> </a:t>
            </a:r>
            <a:r>
              <a:rPr lang="en-US" dirty="0" err="1"/>
              <a:t>karıştırılan</a:t>
            </a:r>
            <a:r>
              <a:rPr lang="en-US" dirty="0"/>
              <a:t> </a:t>
            </a:r>
            <a:r>
              <a:rPr lang="en-US" dirty="0" err="1"/>
              <a:t>çift</a:t>
            </a:r>
            <a:r>
              <a:rPr lang="tr-TR" dirty="0" err="1"/>
              <a:t>lerden</a:t>
            </a:r>
            <a:r>
              <a:rPr lang="tr-TR" dirty="0"/>
              <a:t> biri</a:t>
            </a:r>
            <a:br>
              <a:rPr lang="en-US" dirty="0"/>
            </a:br>
            <a:r>
              <a:rPr lang="en-US" b="1" dirty="0"/>
              <a:t>“</a:t>
            </a:r>
            <a:r>
              <a:rPr lang="en-US" b="1" dirty="0" err="1"/>
              <a:t>Tıp</a:t>
            </a:r>
            <a:r>
              <a:rPr lang="en-US" b="1" dirty="0"/>
              <a:t> (</a:t>
            </a:r>
            <a:r>
              <a:rPr lang="en-US" b="1" dirty="0" err="1"/>
              <a:t>Araştırma</a:t>
            </a:r>
            <a:r>
              <a:rPr lang="en-US" b="1" dirty="0"/>
              <a:t> &amp; </a:t>
            </a:r>
            <a:r>
              <a:rPr lang="en-US" b="1" dirty="0" err="1"/>
              <a:t>Deneysel</a:t>
            </a:r>
            <a:r>
              <a:rPr lang="en-US" b="1" dirty="0"/>
              <a:t>)”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b="1" dirty="0"/>
              <a:t>“</a:t>
            </a:r>
            <a:r>
              <a:rPr lang="en-US" b="1" dirty="0" err="1"/>
              <a:t>Sinirbilimleri</a:t>
            </a:r>
            <a:r>
              <a:rPr lang="en-US" b="1" dirty="0"/>
              <a:t> (Neurosciences)”</a:t>
            </a:r>
            <a:r>
              <a:rPr lang="en-US" dirty="0"/>
              <a:t> </a:t>
            </a:r>
            <a:r>
              <a:rPr lang="en-US" dirty="0" err="1"/>
              <a:t>olmuştur</a:t>
            </a:r>
            <a:r>
              <a:rPr lang="en-US" dirty="0"/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Bunun </a:t>
            </a:r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nedeni</a:t>
            </a:r>
            <a:r>
              <a:rPr lang="en-US" dirty="0"/>
              <a:t>,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alanın</a:t>
            </a:r>
            <a:r>
              <a:rPr lang="en-US" dirty="0"/>
              <a:t> da </a:t>
            </a:r>
            <a:r>
              <a:rPr lang="en-US" dirty="0" err="1"/>
              <a:t>benzer</a:t>
            </a:r>
            <a:r>
              <a:rPr lang="en-US" dirty="0"/>
              <a:t> </a:t>
            </a:r>
            <a:r>
              <a:rPr lang="en-US" dirty="0" err="1"/>
              <a:t>kavramlar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terminoloji</a:t>
            </a:r>
            <a:r>
              <a:rPr lang="en-US" dirty="0"/>
              <a:t> </a:t>
            </a:r>
            <a:r>
              <a:rPr lang="en-US" dirty="0" err="1"/>
              <a:t>kullanmasıdır</a:t>
            </a:r>
            <a:r>
              <a:rPr lang="en-US" dirty="0"/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err="1"/>
              <a:t>Örneğin</a:t>
            </a:r>
            <a:r>
              <a:rPr lang="en-US" b="1" dirty="0"/>
              <a:t>:</a:t>
            </a:r>
            <a:br>
              <a:rPr lang="en-US" dirty="0"/>
            </a:br>
            <a:r>
              <a:rPr lang="en-US" dirty="0"/>
              <a:t>“Huntington disease (HD) is one of at least nine </a:t>
            </a:r>
            <a:r>
              <a:rPr lang="en-US" u="sng" dirty="0"/>
              <a:t>polyglutamine</a:t>
            </a:r>
            <a:r>
              <a:rPr lang="en-US" dirty="0"/>
              <a:t> disorders caused by a CAG expansion in the coding region of a disease-causing gene. These disorders are characterized by selective </a:t>
            </a:r>
            <a:r>
              <a:rPr lang="en-US" u="sng" dirty="0"/>
              <a:t>neuronal</a:t>
            </a:r>
            <a:r>
              <a:rPr lang="en-US" dirty="0"/>
              <a:t> degeneration particularly in the striatum and </a:t>
            </a:r>
            <a:r>
              <a:rPr lang="en-US" u="sng" dirty="0"/>
              <a:t>cerebral cortex</a:t>
            </a:r>
            <a:r>
              <a:rPr lang="en-US" dirty="0"/>
              <a:t>, leading to progressive motor dysfunction and cognitive decline.”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BERT (baseline) </a:t>
            </a:r>
            <a:r>
              <a:rPr lang="en-US" dirty="0" err="1"/>
              <a:t>modeli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özeti</a:t>
            </a:r>
            <a:r>
              <a:rPr lang="en-US" dirty="0"/>
              <a:t> </a:t>
            </a:r>
            <a:r>
              <a:rPr lang="en-US" b="1" dirty="0"/>
              <a:t>“</a:t>
            </a:r>
            <a:r>
              <a:rPr lang="en-US" b="1" dirty="0" err="1"/>
              <a:t>Tıp</a:t>
            </a:r>
            <a:r>
              <a:rPr lang="en-US" b="1" dirty="0"/>
              <a:t>”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etiketlemiştir</a:t>
            </a:r>
            <a:r>
              <a:rPr lang="en-US" dirty="0"/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Ancak</a:t>
            </a:r>
            <a:r>
              <a:rPr lang="en-US" dirty="0"/>
              <a:t> </a:t>
            </a:r>
            <a:r>
              <a:rPr lang="en-US" dirty="0" err="1"/>
              <a:t>SciBERT</a:t>
            </a:r>
            <a:r>
              <a:rPr lang="en-US" dirty="0"/>
              <a:t> </a:t>
            </a:r>
            <a:r>
              <a:rPr lang="en-US" dirty="0" err="1"/>
              <a:t>modeli</a:t>
            </a:r>
            <a:r>
              <a:rPr lang="en-US" dirty="0"/>
              <a:t>, </a:t>
            </a:r>
            <a:r>
              <a:rPr lang="en-US" dirty="0" err="1"/>
              <a:t>alan</a:t>
            </a:r>
            <a:r>
              <a:rPr lang="en-US" dirty="0"/>
              <a:t> </a:t>
            </a:r>
            <a:r>
              <a:rPr lang="en-US" dirty="0" err="1"/>
              <a:t>terminolojisini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iyi </a:t>
            </a:r>
            <a:r>
              <a:rPr lang="en-US" dirty="0" err="1"/>
              <a:t>yakaladığı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doğru</a:t>
            </a:r>
            <a:r>
              <a:rPr lang="en-US" dirty="0"/>
              <a:t> </a:t>
            </a:r>
            <a:r>
              <a:rPr lang="en-US" dirty="0" err="1"/>
              <a:t>sınıflandırmayı</a:t>
            </a:r>
            <a:r>
              <a:rPr lang="en-US" dirty="0"/>
              <a:t> </a:t>
            </a:r>
            <a:r>
              <a:rPr lang="en-US" dirty="0" err="1"/>
              <a:t>yapmış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b="1" dirty="0"/>
              <a:t>“</a:t>
            </a:r>
            <a:r>
              <a:rPr lang="en-US" b="1" dirty="0" err="1"/>
              <a:t>Sinirbilimleri</a:t>
            </a:r>
            <a:r>
              <a:rPr lang="en-US" b="1" dirty="0"/>
              <a:t>”</a:t>
            </a:r>
            <a:r>
              <a:rPr lang="en-US" dirty="0"/>
              <a:t> </a:t>
            </a:r>
            <a:r>
              <a:rPr lang="en-US" dirty="0" err="1"/>
              <a:t>kategorisini</a:t>
            </a:r>
            <a:r>
              <a:rPr lang="en-US" dirty="0"/>
              <a:t> </a:t>
            </a:r>
            <a:r>
              <a:rPr lang="en-US" dirty="0" err="1"/>
              <a:t>seçmiştir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sz="4000" b="1" dirty="0" err="1"/>
              <a:t>Sebepler</a:t>
            </a:r>
            <a:endParaRPr lang="en-US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İki </a:t>
            </a:r>
            <a:r>
              <a:rPr lang="en-US" dirty="0" err="1"/>
              <a:t>disiplin</a:t>
            </a:r>
            <a:r>
              <a:rPr lang="en-US" dirty="0"/>
              <a:t> </a:t>
            </a:r>
            <a:r>
              <a:rPr lang="en-US" dirty="0" err="1"/>
              <a:t>arasındaki</a:t>
            </a:r>
            <a:r>
              <a:rPr lang="en-US" dirty="0"/>
              <a:t> </a:t>
            </a:r>
            <a:r>
              <a:rPr lang="en-US" dirty="0" err="1"/>
              <a:t>konsept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terminoloji</a:t>
            </a:r>
            <a:r>
              <a:rPr lang="en-US" dirty="0"/>
              <a:t> </a:t>
            </a:r>
            <a:r>
              <a:rPr lang="en-US" dirty="0" err="1"/>
              <a:t>benzerliği</a:t>
            </a:r>
            <a:r>
              <a:rPr lang="en-US" dirty="0"/>
              <a:t>, </a:t>
            </a:r>
            <a:r>
              <a:rPr lang="en-US" dirty="0" err="1"/>
              <a:t>modellerin</a:t>
            </a:r>
            <a:r>
              <a:rPr lang="en-US" dirty="0"/>
              <a:t> </a:t>
            </a:r>
            <a:r>
              <a:rPr lang="en-US" dirty="0" err="1"/>
              <a:t>ayrım</a:t>
            </a:r>
            <a:r>
              <a:rPr lang="en-US" dirty="0"/>
              <a:t> </a:t>
            </a:r>
            <a:r>
              <a:rPr lang="en-US" dirty="0" err="1"/>
              <a:t>yapmasını</a:t>
            </a:r>
            <a:r>
              <a:rPr lang="en-US" dirty="0"/>
              <a:t> </a:t>
            </a:r>
            <a:r>
              <a:rPr lang="en-US" dirty="0" err="1"/>
              <a:t>zorlaştırmaktadır</a:t>
            </a:r>
            <a:r>
              <a:rPr lang="en-US" dirty="0"/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Genel </a:t>
            </a:r>
            <a:r>
              <a:rPr lang="en-US" dirty="0" err="1"/>
              <a:t>tıbbi</a:t>
            </a:r>
            <a:r>
              <a:rPr lang="en-US" dirty="0"/>
              <a:t> </a:t>
            </a:r>
            <a:r>
              <a:rPr lang="en-US" dirty="0" err="1"/>
              <a:t>literatür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sinirbilimleri</a:t>
            </a:r>
            <a:r>
              <a:rPr lang="en-US" dirty="0"/>
              <a:t> </a:t>
            </a:r>
            <a:r>
              <a:rPr lang="en-US" dirty="0" err="1"/>
              <a:t>literatürü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örtüşen</a:t>
            </a:r>
            <a:r>
              <a:rPr lang="en-US" dirty="0"/>
              <a:t> </a:t>
            </a:r>
            <a:r>
              <a:rPr lang="en-US" dirty="0" err="1"/>
              <a:t>anahtar</a:t>
            </a:r>
            <a:r>
              <a:rPr lang="en-US" dirty="0"/>
              <a:t> </a:t>
            </a:r>
            <a:r>
              <a:rPr lang="en-US" dirty="0" err="1"/>
              <a:t>kavramlar</a:t>
            </a:r>
            <a:r>
              <a:rPr lang="en-US" dirty="0"/>
              <a:t> </a:t>
            </a:r>
            <a:r>
              <a:rPr lang="en-US" dirty="0" err="1"/>
              <a:t>vardır</a:t>
            </a:r>
            <a:r>
              <a:rPr lang="en-US" dirty="0"/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Music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bazı</a:t>
            </a:r>
            <a:r>
              <a:rPr lang="en-US" dirty="0"/>
              <a:t> </a:t>
            </a:r>
            <a:r>
              <a:rPr lang="en-US" dirty="0" err="1"/>
              <a:t>sınıflar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ayırt</a:t>
            </a:r>
            <a:r>
              <a:rPr lang="en-US" dirty="0"/>
              <a:t> </a:t>
            </a:r>
            <a:r>
              <a:rPr lang="en-US" dirty="0" err="1"/>
              <a:t>edilebilirlik</a:t>
            </a:r>
            <a:r>
              <a:rPr lang="en-US" dirty="0"/>
              <a:t> </a:t>
            </a:r>
            <a:r>
              <a:rPr lang="en-US" dirty="0" err="1"/>
              <a:t>gösterirken</a:t>
            </a:r>
            <a:r>
              <a:rPr lang="en-US" dirty="0"/>
              <a:t>, Biology/Medicine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zordur</a:t>
            </a:r>
            <a:r>
              <a:rPr lang="en-US" dirty="0"/>
              <a:t>.</a:t>
            </a:r>
            <a:endParaRPr lang="tr-TR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Daha </a:t>
            </a:r>
            <a:r>
              <a:rPr lang="en-US" dirty="0" err="1"/>
              <a:t>alan-odaklı</a:t>
            </a:r>
            <a:r>
              <a:rPr lang="en-US" dirty="0"/>
              <a:t> </a:t>
            </a:r>
            <a:r>
              <a:rPr lang="en-US" dirty="0" err="1"/>
              <a:t>modeller</a:t>
            </a:r>
            <a:r>
              <a:rPr lang="en-US" dirty="0"/>
              <a:t> (</a:t>
            </a:r>
            <a:r>
              <a:rPr lang="en-US" dirty="0" err="1"/>
              <a:t>örn</a:t>
            </a:r>
            <a:r>
              <a:rPr lang="en-US" dirty="0"/>
              <a:t>. </a:t>
            </a:r>
            <a:r>
              <a:rPr lang="en-US" dirty="0" err="1"/>
              <a:t>SciBERT</a:t>
            </a:r>
            <a:r>
              <a:rPr lang="en-US" dirty="0"/>
              <a:t>)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benzerlikleri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iyi </a:t>
            </a:r>
            <a:r>
              <a:rPr lang="en-US" dirty="0" err="1"/>
              <a:t>ayırt</a:t>
            </a:r>
            <a:r>
              <a:rPr lang="en-US" dirty="0"/>
              <a:t> </a:t>
            </a:r>
            <a:r>
              <a:rPr lang="en-US" dirty="0" err="1"/>
              <a:t>edebilmektedir</a:t>
            </a:r>
            <a:r>
              <a:rPr lang="en-US" dirty="0"/>
              <a:t>.</a:t>
            </a:r>
            <a:endParaRPr lang="tr-TR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194264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A93369-6EA6-0C4D-9EF9-E9E874E58B01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Sınıflandırma</a:t>
            </a:r>
            <a:r>
              <a:rPr lang="en-US" sz="4000" b="1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b="1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Raporu</a:t>
            </a:r>
            <a:r>
              <a:rPr lang="en-US" sz="4000" b="1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(</a:t>
            </a:r>
            <a:r>
              <a:rPr lang="en-US" sz="4000" b="1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SciBERT</a:t>
            </a:r>
            <a:r>
              <a:rPr lang="en-US" sz="4000" b="1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2FD85F1-EA89-E8AE-85E8-C307D0A133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687788"/>
              </p:ext>
            </p:extLst>
          </p:nvPr>
        </p:nvGraphicFramePr>
        <p:xfrm>
          <a:off x="2" y="1575956"/>
          <a:ext cx="12191994" cy="5282048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</a:tblPr>
              <a:tblGrid>
                <a:gridCol w="5328250">
                  <a:extLst>
                    <a:ext uri="{9D8B030D-6E8A-4147-A177-3AD203B41FA5}">
                      <a16:colId xmlns:a16="http://schemas.microsoft.com/office/drawing/2014/main" val="3647614306"/>
                    </a:ext>
                  </a:extLst>
                </a:gridCol>
                <a:gridCol w="2522981">
                  <a:extLst>
                    <a:ext uri="{9D8B030D-6E8A-4147-A177-3AD203B41FA5}">
                      <a16:colId xmlns:a16="http://schemas.microsoft.com/office/drawing/2014/main" val="3545099170"/>
                    </a:ext>
                  </a:extLst>
                </a:gridCol>
                <a:gridCol w="1893619">
                  <a:extLst>
                    <a:ext uri="{9D8B030D-6E8A-4147-A177-3AD203B41FA5}">
                      <a16:colId xmlns:a16="http://schemas.microsoft.com/office/drawing/2014/main" val="1472431957"/>
                    </a:ext>
                  </a:extLst>
                </a:gridCol>
                <a:gridCol w="2447144">
                  <a:extLst>
                    <a:ext uri="{9D8B030D-6E8A-4147-A177-3AD203B41FA5}">
                      <a16:colId xmlns:a16="http://schemas.microsoft.com/office/drawing/2014/main" val="2678761682"/>
                    </a:ext>
                  </a:extLst>
                </a:gridCol>
              </a:tblGrid>
              <a:tr h="330128">
                <a:tc>
                  <a:txBody>
                    <a:bodyPr/>
                    <a:lstStyle/>
                    <a:p>
                      <a:r>
                        <a:rPr lang="en-GB" sz="1400" b="0" cap="none" spc="0">
                          <a:solidFill>
                            <a:schemeClr val="bg1"/>
                          </a:solidFill>
                        </a:rPr>
                        <a:t>Kategori</a:t>
                      </a:r>
                    </a:p>
                  </a:txBody>
                  <a:tcPr marL="63512" marR="28449" marT="48856" marB="48856" anchor="ctr">
                    <a:lnL w="19050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0" cap="none" spc="0">
                          <a:solidFill>
                            <a:schemeClr val="bg1"/>
                          </a:solidFill>
                        </a:rPr>
                        <a:t>Precision</a:t>
                      </a:r>
                    </a:p>
                  </a:txBody>
                  <a:tcPr marL="63512" marR="28449" marT="48856" marB="4885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0" cap="none" spc="0">
                          <a:solidFill>
                            <a:schemeClr val="bg1"/>
                          </a:solidFill>
                        </a:rPr>
                        <a:t>Recall</a:t>
                      </a:r>
                    </a:p>
                  </a:txBody>
                  <a:tcPr marL="63512" marR="28449" marT="48856" marB="4885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0" cap="none" spc="0">
                          <a:solidFill>
                            <a:schemeClr val="bg1"/>
                          </a:solidFill>
                        </a:rPr>
                        <a:t>F1-Score</a:t>
                      </a:r>
                    </a:p>
                  </a:txBody>
                  <a:tcPr marL="63512" marR="28449" marT="48856" marB="4885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75656"/>
                  </a:ext>
                </a:extLst>
              </a:tr>
              <a:tr h="330128"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Astronomy &amp; Astrophysics</a:t>
                      </a:r>
                    </a:p>
                  </a:txBody>
                  <a:tcPr marL="63512" marR="28449" marT="48856" marB="4885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0.94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0.98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0.96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240499"/>
                  </a:ext>
                </a:extLst>
              </a:tr>
              <a:tr h="330128"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Biology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0.79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0.79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0.79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12658"/>
                  </a:ext>
                </a:extLst>
              </a:tr>
              <a:tr h="330128"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Chemistry</a:t>
                      </a:r>
                    </a:p>
                  </a:txBody>
                  <a:tcPr marL="63512" marR="28449" marT="48856" marB="4885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0.89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0.92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802082"/>
                  </a:ext>
                </a:extLst>
              </a:tr>
              <a:tr h="330128"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Computer Science, Artificial Intelligence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0.97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0.96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143918"/>
                  </a:ext>
                </a:extLst>
              </a:tr>
              <a:tr h="330128"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Economics &amp; Business</a:t>
                      </a:r>
                    </a:p>
                  </a:txBody>
                  <a:tcPr marL="63512" marR="28449" marT="48856" marB="4885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0.97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0.94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6193820"/>
                  </a:ext>
                </a:extLst>
              </a:tr>
              <a:tr h="330128"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Environmental Science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0.87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0.92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0.89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523344"/>
                  </a:ext>
                </a:extLst>
              </a:tr>
              <a:tr h="330128"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Geography</a:t>
                      </a:r>
                    </a:p>
                  </a:txBody>
                  <a:tcPr marL="63512" marR="28449" marT="48856" marB="4885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0.94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0.90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0.92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790384"/>
                  </a:ext>
                </a:extLst>
              </a:tr>
              <a:tr h="330128"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Materials Science, Coatings &amp; Films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0.92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0.97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086821"/>
                  </a:ext>
                </a:extLst>
              </a:tr>
              <a:tr h="330128"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Medicine, Research &amp; Experimental</a:t>
                      </a:r>
                    </a:p>
                  </a:txBody>
                  <a:tcPr marL="63512" marR="28449" marT="48856" marB="4885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0.89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0.82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0.86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276206"/>
                  </a:ext>
                </a:extLst>
              </a:tr>
              <a:tr h="330128"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Neurosciences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0.85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0.91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815762"/>
                  </a:ext>
                </a:extLst>
              </a:tr>
              <a:tr h="330128"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music</a:t>
                      </a:r>
                    </a:p>
                  </a:txBody>
                  <a:tcPr marL="63512" marR="28449" marT="48856" marB="4885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1.00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703610"/>
                  </a:ext>
                </a:extLst>
              </a:tr>
              <a:tr h="330128"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physics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0.94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0.90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0.92</a:t>
                      </a:r>
                    </a:p>
                  </a:txBody>
                  <a:tcPr marL="63512" marR="28449" marT="48856" marB="48856" anchor="ctr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752321"/>
                  </a:ext>
                </a:extLst>
              </a:tr>
              <a:tr h="330128">
                <a:tc>
                  <a:txBody>
                    <a:bodyPr/>
                    <a:lstStyle/>
                    <a:p>
                      <a:r>
                        <a:rPr lang="en-GB" sz="1400" b="1" cap="none" spc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en-GB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512" marR="28449" marT="48856" marB="4885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512" marR="28449" marT="48856" marB="4885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512" marR="28449" marT="48856" marB="4885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cap="none" spc="0">
                          <a:solidFill>
                            <a:schemeClr val="tx1"/>
                          </a:solidFill>
                        </a:rPr>
                        <a:t>0.92</a:t>
                      </a:r>
                      <a:endParaRPr lang="en-GB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512" marR="28449" marT="48856" marB="4885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06891"/>
                  </a:ext>
                </a:extLst>
              </a:tr>
              <a:tr h="330128">
                <a:tc>
                  <a:txBody>
                    <a:bodyPr/>
                    <a:lstStyle/>
                    <a:p>
                      <a:r>
                        <a:rPr lang="en-GB" sz="1400" b="1" cap="none" spc="0">
                          <a:solidFill>
                            <a:schemeClr val="tx1"/>
                          </a:solidFill>
                        </a:rPr>
                        <a:t>Macro Avg</a:t>
                      </a:r>
                      <a:endParaRPr lang="en-GB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512" marR="28449" marT="48856" marB="48856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cap="none" spc="0">
                          <a:solidFill>
                            <a:schemeClr val="tx1"/>
                          </a:solidFill>
                        </a:rPr>
                        <a:t>0.92</a:t>
                      </a:r>
                      <a:endParaRPr lang="en-GB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512" marR="28449" marT="48856" marB="48856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cap="none" spc="0">
                          <a:solidFill>
                            <a:schemeClr val="tx1"/>
                          </a:solidFill>
                        </a:rPr>
                        <a:t>0.92</a:t>
                      </a:r>
                      <a:endParaRPr lang="en-GB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512" marR="28449" marT="48856" marB="48856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cap="none" spc="0">
                          <a:solidFill>
                            <a:schemeClr val="tx1"/>
                          </a:solidFill>
                        </a:rPr>
                        <a:t>0.92</a:t>
                      </a:r>
                      <a:endParaRPr lang="en-GB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512" marR="28449" marT="48856" marB="48856" anchor="ctr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263154"/>
                  </a:ext>
                </a:extLst>
              </a:tr>
              <a:tr h="330128">
                <a:tc>
                  <a:txBody>
                    <a:bodyPr/>
                    <a:lstStyle/>
                    <a:p>
                      <a:r>
                        <a:rPr lang="en-GB" sz="1400" b="1" cap="none" spc="0">
                          <a:solidFill>
                            <a:schemeClr val="tx1"/>
                          </a:solidFill>
                        </a:rPr>
                        <a:t>Weighted Avg</a:t>
                      </a:r>
                      <a:endParaRPr lang="en-GB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512" marR="28449" marT="48856" marB="4885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cap="none" spc="0">
                          <a:solidFill>
                            <a:schemeClr val="tx1"/>
                          </a:solidFill>
                        </a:rPr>
                        <a:t>0.92</a:t>
                      </a:r>
                      <a:endParaRPr lang="en-GB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512" marR="28449" marT="48856" marB="4885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cap="none" spc="0">
                          <a:solidFill>
                            <a:schemeClr val="tx1"/>
                          </a:solidFill>
                        </a:rPr>
                        <a:t>0.92</a:t>
                      </a:r>
                      <a:endParaRPr lang="en-GB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512" marR="28449" marT="48856" marB="4885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cap="none" spc="0" dirty="0">
                          <a:solidFill>
                            <a:schemeClr val="tx1"/>
                          </a:solidFill>
                        </a:rPr>
                        <a:t>0.92</a:t>
                      </a:r>
                      <a:endParaRPr lang="en-GB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63512" marR="28449" marT="48856" marB="4885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943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45997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latin typeface="DejaVu Sans"/>
              </a:defRPr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Kaynak Tüketimi vs Performans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37835" y="397769"/>
            <a:ext cx="8540228" cy="1270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DejaVu Sans"/>
              </a:defRPr>
            </a:pPr>
            <a:r>
              <a:rPr lang="en-US" sz="2000" dirty="0"/>
              <a:t>Pratik </a:t>
            </a:r>
            <a:r>
              <a:rPr lang="en-US" sz="2000" dirty="0" err="1"/>
              <a:t>rehber</a:t>
            </a:r>
            <a:r>
              <a:rPr lang="en-US" sz="2000" dirty="0"/>
              <a:t>: Naive Bayes (</a:t>
            </a:r>
            <a:r>
              <a:rPr lang="en-US" sz="2000" dirty="0" err="1"/>
              <a:t>düşük</a:t>
            </a:r>
            <a:r>
              <a:rPr lang="en-US" sz="2000" dirty="0"/>
              <a:t> </a:t>
            </a:r>
            <a:r>
              <a:rPr lang="en-US" sz="2000" dirty="0" err="1"/>
              <a:t>kaynak</a:t>
            </a:r>
            <a:r>
              <a:rPr lang="en-US" sz="2000" dirty="0"/>
              <a:t>), SVM (</a:t>
            </a:r>
            <a:r>
              <a:rPr lang="en-US" sz="2000" dirty="0" err="1"/>
              <a:t>yüksek</a:t>
            </a:r>
            <a:r>
              <a:rPr lang="en-US" sz="2000" dirty="0"/>
              <a:t> </a:t>
            </a:r>
            <a:r>
              <a:rPr lang="en-US" sz="2000" dirty="0" err="1"/>
              <a:t>tahmin</a:t>
            </a:r>
            <a:r>
              <a:rPr lang="en-US" sz="2000" dirty="0"/>
              <a:t> </a:t>
            </a:r>
            <a:r>
              <a:rPr lang="en-US" sz="2000" dirty="0" err="1"/>
              <a:t>maliyeti</a:t>
            </a:r>
            <a:r>
              <a:rPr lang="en-US" sz="2000" dirty="0"/>
              <a:t>), </a:t>
            </a:r>
            <a:r>
              <a:rPr lang="en-US" sz="2000" dirty="0" err="1"/>
              <a:t>SciBERT+K-Fold</a:t>
            </a:r>
            <a:r>
              <a:rPr lang="en-US" sz="2000" dirty="0"/>
              <a:t> (</a:t>
            </a:r>
            <a:r>
              <a:rPr lang="en-US" sz="2000" dirty="0" err="1"/>
              <a:t>en</a:t>
            </a:r>
            <a:r>
              <a:rPr lang="en-US" sz="2000" dirty="0"/>
              <a:t> iyi F1, </a:t>
            </a:r>
            <a:r>
              <a:rPr lang="en-US" sz="2000" dirty="0" err="1"/>
              <a:t>yüksek</a:t>
            </a:r>
            <a:r>
              <a:rPr lang="en-US" sz="2000" dirty="0"/>
              <a:t> </a:t>
            </a:r>
            <a:r>
              <a:rPr lang="en-US" sz="2000" dirty="0" err="1"/>
              <a:t>kaynak</a:t>
            </a:r>
            <a:r>
              <a:rPr lang="en-US" sz="2000" dirty="0"/>
              <a:t>).</a:t>
            </a:r>
          </a:p>
        </p:txBody>
      </p:sp>
      <p:pic>
        <p:nvPicPr>
          <p:cNvPr id="4" name="Picture 3" descr="resource_vs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413" y="1943042"/>
            <a:ext cx="7468238" cy="463030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127208" y="857251"/>
            <a:ext cx="4747280" cy="30980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latin typeface="DejaVu Sans"/>
              </a:defRPr>
            </a:pPr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Açık Kaynak Veri Linkleri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E604D-E88E-985E-02B4-9DDC23A3D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128" y="2502413"/>
            <a:ext cx="3921595" cy="178358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latin typeface="DejaVu Sans"/>
              </a:defRPr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İrtibat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DejaVu Sans"/>
              </a:defRPr>
            </a:pPr>
            <a:r>
              <a:rPr lang="en-US" sz="2000"/>
              <a:t>Efe Mehmet Karabulut — AVL Research &amp; Engineering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DejaVu Sans"/>
              </a:defRPr>
            </a:pPr>
            <a:r>
              <a:rPr lang="en-US" sz="2000">
                <a:hlinkClick r:id="rId2"/>
              </a:rPr>
              <a:t>efe.karabulut@avl.com</a:t>
            </a:r>
            <a:br>
              <a:rPr lang="en-US" sz="2000"/>
            </a:br>
            <a:endParaRPr lang="en-US" sz="20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DejaVu Sans"/>
              </a:defRPr>
            </a:pPr>
            <a:r>
              <a:rPr lang="en-US" sz="2000"/>
              <a:t>GitHub: </a:t>
            </a:r>
            <a:r>
              <a:rPr lang="en-US" sz="2000">
                <a:hlinkClick r:id="rId3"/>
              </a:rPr>
              <a:t>https://github.com/efemehmetkarabulut/Academic-Abstract-Dataset-for-Large-Scale-Academic-Text-Classification.git</a:t>
            </a:r>
            <a:endParaRPr lang="en-US"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9DB8C5-E837-5358-C645-8C4BB9C52970}"/>
              </a:ext>
            </a:extLst>
          </p:cNvPr>
          <p:cNvSpPr txBox="1"/>
          <p:nvPr/>
        </p:nvSpPr>
        <p:spPr>
          <a:xfrm>
            <a:off x="1386865" y="818984"/>
            <a:ext cx="6596245" cy="3268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Teşekkürler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485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837</TotalTime>
  <Words>1891</Words>
  <Application>Microsoft Office PowerPoint</Application>
  <PresentationFormat>Geniş ekran</PresentationFormat>
  <Paragraphs>204</Paragraphs>
  <Slides>26</Slides>
  <Notes>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26</vt:i4>
      </vt:variant>
    </vt:vector>
  </HeadingPairs>
  <TitlesOfParts>
    <vt:vector size="27" baseType="lpstr"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subject/>
  <dc:creator>Efe Mehmet Karabulut (PARTNER)</dc:creator>
  <cp:keywords/>
  <dc:description>generated using python-pptx</dc:description>
  <cp:lastModifiedBy>efe kaarabulut</cp:lastModifiedBy>
  <cp:revision>12</cp:revision>
  <dcterms:created xsi:type="dcterms:W3CDTF">2013-01-27T09:14:16Z</dcterms:created>
  <dcterms:modified xsi:type="dcterms:W3CDTF">2025-09-10T11:01:50Z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811196-1c4f-4bcc-9ac6-425b53fb3bdd_Enabled">
    <vt:lpwstr>true</vt:lpwstr>
  </property>
  <property fmtid="{D5CDD505-2E9C-101B-9397-08002B2CF9AE}" pid="3" name="MSIP_Label_12811196-1c4f-4bcc-9ac6-425b53fb3bdd_SetDate">
    <vt:lpwstr>2025-08-30T17:00:56Z</vt:lpwstr>
  </property>
  <property fmtid="{D5CDD505-2E9C-101B-9397-08002B2CF9AE}" pid="4" name="MSIP_Label_12811196-1c4f-4bcc-9ac6-425b53fb3bdd_Method">
    <vt:lpwstr>Privileged</vt:lpwstr>
  </property>
  <property fmtid="{D5CDD505-2E9C-101B-9397-08002B2CF9AE}" pid="5" name="MSIP_Label_12811196-1c4f-4bcc-9ac6-425b53fb3bdd_Name">
    <vt:lpwstr>Public</vt:lpwstr>
  </property>
  <property fmtid="{D5CDD505-2E9C-101B-9397-08002B2CF9AE}" pid="6" name="MSIP_Label_12811196-1c4f-4bcc-9ac6-425b53fb3bdd_SiteId">
    <vt:lpwstr>9b2aa256-6b63-48b7-88bd-26407e34cbc4</vt:lpwstr>
  </property>
  <property fmtid="{D5CDD505-2E9C-101B-9397-08002B2CF9AE}" pid="7" name="MSIP_Label_12811196-1c4f-4bcc-9ac6-425b53fb3bdd_ActionId">
    <vt:lpwstr>41d076fc-decd-4ae1-961a-87ed7f27c9a7</vt:lpwstr>
  </property>
  <property fmtid="{D5CDD505-2E9C-101B-9397-08002B2CF9AE}" pid="8" name="MSIP_Label_12811196-1c4f-4bcc-9ac6-425b53fb3bdd_ContentBits">
    <vt:lpwstr>2</vt:lpwstr>
  </property>
  <property fmtid="{D5CDD505-2E9C-101B-9397-08002B2CF9AE}" pid="9" name="MSIP_Label_12811196-1c4f-4bcc-9ac6-425b53fb3bdd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Public</vt:lpwstr>
  </property>
</Properties>
</file>